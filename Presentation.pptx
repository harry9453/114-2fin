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3877564" y="2481861"/>
            <a:ext cx="4634547" cy="2543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5400" spc="-160" dirty="0">
                <a:solidFill>
                  <a:srgbClr val="FEFEFE"/>
                </a:solidFill>
                <a:latin typeface="Microsoft JhengHei"/>
                <a:ea typeface="Microsoft JhengHei"/>
              </a:rPr>
              <a:t>臺北捷運</a:t>
            </a:r>
            <a:r>
              <a:rPr lang="en-US" altLang="zh-CN" sz="5400" spc="-40" dirty="0">
                <a:solidFill>
                  <a:srgbClr val="FEFEFE"/>
                </a:solidFill>
                <a:latin typeface="Microsoft JhengHei"/>
                <a:cs typeface="Microsoft JhengHei"/>
              </a:rPr>
              <a:t> </a:t>
            </a:r>
            <a:r>
              <a:rPr lang="en-US" altLang="zh-CN" sz="5400" spc="-119" dirty="0">
                <a:solidFill>
                  <a:srgbClr val="FEFEFE"/>
                </a:solidFill>
                <a:latin typeface="Times New Roman"/>
                <a:ea typeface="Times New Roman"/>
              </a:rPr>
              <a:t>OD</a:t>
            </a:r>
            <a:r>
              <a:rPr lang="en-US" altLang="zh-CN" sz="5400" spc="-4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5400" spc="-154" dirty="0">
                <a:solidFill>
                  <a:srgbClr val="FEFEFE"/>
                </a:solidFill>
                <a:latin typeface="Microsoft JhengHei"/>
                <a:ea typeface="Microsoft JhengHei"/>
              </a:rPr>
              <a:t>人</a:t>
            </a:r>
          </a:p>
          <a:p>
            <a:pPr marL="0" indent="1281176">
              <a:lnSpc>
                <a:spcPct val="100000"/>
              </a:lnSpc>
            </a:pPr>
            <a:r>
              <a:rPr lang="en-US" altLang="zh-CN" sz="5400" dirty="0">
                <a:solidFill>
                  <a:srgbClr val="FEFEFE"/>
                </a:solidFill>
                <a:latin typeface="Microsoft JhengHei"/>
                <a:ea typeface="Microsoft JhengHei"/>
              </a:rPr>
              <a:t>流分析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60"/>
              </a:lnSpc>
            </a:pPr>
            <a:endParaRPr lang="en-US" dirty="0" smtClean="0"/>
          </a:p>
          <a:p>
            <a:pPr marL="0" indent="1042415">
              <a:lnSpc>
                <a:spcPct val="100000"/>
              </a:lnSpc>
            </a:pPr>
            <a:r>
              <a:rPr lang="en-US" altLang="zh-CN" sz="2000" spc="15" dirty="0">
                <a:solidFill>
                  <a:srgbClr val="FEFEFE"/>
                </a:solidFill>
                <a:latin typeface="Arial"/>
                <a:ea typeface="Arial"/>
              </a:rPr>
              <a:t>•</a:t>
            </a:r>
            <a:r>
              <a:rPr lang="en-US" altLang="zh-CN" sz="2000" spc="20" dirty="0">
                <a:solidFill>
                  <a:srgbClr val="FEFEFE"/>
                </a:solidFill>
                <a:latin typeface="Arial"/>
                <a:cs typeface="Arial"/>
              </a:rPr>
              <a:t>  </a:t>
            </a:r>
            <a:r>
              <a:rPr lang="zh-CN" altLang="en-US" sz="2000" spc="55" dirty="0">
                <a:solidFill>
                  <a:srgbClr val="FEFEFE"/>
                </a:solidFill>
                <a:latin typeface="PMingLiU"/>
                <a:ea typeface="PMingLiU"/>
              </a:rPr>
              <a:t>商業智慧期末報告</a:t>
            </a:r>
          </a:p>
          <a:p>
            <a:pPr marL="0" indent="1356105">
              <a:lnSpc>
                <a:spcPct val="100000"/>
              </a:lnSpc>
            </a:pPr>
            <a:r>
              <a:rPr lang="en-US" altLang="zh-CN" sz="2000" spc="34" dirty="0">
                <a:solidFill>
                  <a:srgbClr val="FEFEFE"/>
                </a:solidFill>
                <a:latin typeface="Times New Roman"/>
                <a:ea typeface="Times New Roman"/>
              </a:rPr>
              <a:t>112111218</a:t>
            </a:r>
            <a:r>
              <a:rPr lang="en-US" altLang="zh-CN" sz="2000" spc="-8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000" spc="80" dirty="0">
                <a:solidFill>
                  <a:srgbClr val="FEFEFE"/>
                </a:solidFill>
                <a:latin typeface="PMingLiU"/>
                <a:ea typeface="PMingLiU"/>
              </a:rPr>
              <a:t>陳柏宏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6857999 h 6857999"/>
              <a:gd name="connsiteX1" fmla="*/ 12192000 w 12192000"/>
              <a:gd name="connsiteY1" fmla="*/ 6857999 h 6857999"/>
              <a:gd name="connsiteX2" fmla="*/ 12192000 w 12192000"/>
              <a:gd name="connsiteY2" fmla="*/ 0 h 6857999"/>
              <a:gd name="connsiteX3" fmla="*/ 0 w 12192000"/>
              <a:gd name="connsiteY3" fmla="*/ 0 h 6857999"/>
              <a:gd name="connsiteX4" fmla="*/ 0 w 12192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7999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5120"/>
            <a:ext cx="12192000" cy="3992879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927100" y="2318939"/>
            <a:ext cx="6708775" cy="2390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7200" spc="10" dirty="0">
                <a:solidFill>
                  <a:srgbClr val="FEFEFE"/>
                </a:solidFill>
                <a:latin typeface="PMingLiU"/>
                <a:ea typeface="PMingLiU"/>
              </a:rPr>
              <a:t>研究</a:t>
            </a:r>
            <a:r>
              <a:rPr lang="zh-CN" altLang="en-US" sz="7200" dirty="0">
                <a:solidFill>
                  <a:srgbClr val="FEFEFE"/>
                </a:solidFill>
                <a:latin typeface="PMingLiU"/>
                <a:ea typeface="PMingLiU"/>
              </a:rPr>
              <a:t>動機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zh-CN" altLang="en-US" sz="1500" spc="5" dirty="0">
                <a:solidFill>
                  <a:srgbClr val="FEFEFE"/>
                </a:solidFill>
                <a:latin typeface="PMingLiU"/>
                <a:ea typeface="PMingLiU"/>
              </a:rPr>
              <a:t>捷運是雙北地區</a:t>
            </a:r>
            <a:r>
              <a:rPr lang="zh-CN" altLang="en-US" sz="1500" dirty="0">
                <a:solidFill>
                  <a:srgbClr val="FEFEFE"/>
                </a:solidFill>
                <a:latin typeface="PMingLiU"/>
                <a:ea typeface="PMingLiU"/>
              </a:rPr>
              <a:t>重要的大眾運輸工具。</a:t>
            </a:r>
          </a:p>
          <a:p>
            <a:pPr marL="0" indent="38100">
              <a:lnSpc>
                <a:spcPct val="87916"/>
              </a:lnSpc>
            </a:pPr>
            <a:r>
              <a:rPr lang="zh-CN" altLang="en-US" sz="1500" spc="5" dirty="0">
                <a:solidFill>
                  <a:srgbClr val="FEFEFE"/>
                </a:solidFill>
                <a:latin typeface="PMingLiU"/>
                <a:ea typeface="PMingLiU"/>
              </a:rPr>
              <a:t>不同車站因為周邊環境</a:t>
            </a:r>
            <a:r>
              <a:rPr lang="zh-CN" altLang="en-US" sz="1500" dirty="0">
                <a:solidFill>
                  <a:srgbClr val="FEFEFE"/>
                </a:solidFill>
                <a:latin typeface="PMingLiU"/>
                <a:ea typeface="PMingLiU"/>
              </a:rPr>
              <a:t>不同，人流型態也會不一樣。</a:t>
            </a:r>
          </a:p>
          <a:p>
            <a:pPr marL="0" indent="38100" hangingPunct="0">
              <a:lnSpc>
                <a:spcPct val="95416"/>
              </a:lnSpc>
            </a:pPr>
            <a:r>
              <a:rPr lang="zh-CN" altLang="en-US" sz="1500" dirty="0">
                <a:solidFill>
                  <a:srgbClr val="FEFEFE"/>
                </a:solidFill>
                <a:latin typeface="PMingLiU"/>
                <a:ea typeface="PMingLiU"/>
              </a:rPr>
              <a:t>本研究希望透過</a:t>
            </a:r>
            <a:r>
              <a:rPr lang="zh-CN" altLang="en-US" sz="1500" spc="-110" dirty="0">
                <a:solidFill>
                  <a:srgbClr val="FEFEFE"/>
                </a:solidFill>
                <a:latin typeface="PMingLiU"/>
                <a:cs typeface="PMingLiU"/>
              </a:rPr>
              <a:t> </a:t>
            </a:r>
            <a:r>
              <a:rPr lang="en-US" altLang="zh-CN" sz="1500" dirty="0">
                <a:solidFill>
                  <a:srgbClr val="FEFEFE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1500" spc="-114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dirty="0">
                <a:solidFill>
                  <a:srgbClr val="FEFEFE"/>
                </a:solidFill>
                <a:latin typeface="Times New Roman"/>
                <a:ea typeface="Times New Roman"/>
              </a:rPr>
              <a:t>BI</a:t>
            </a:r>
            <a:r>
              <a:rPr lang="zh-CN" altLang="en-US" sz="1500" dirty="0">
                <a:solidFill>
                  <a:srgbClr val="FEFEFE"/>
                </a:solidFill>
                <a:latin typeface="PMingLiU"/>
                <a:ea typeface="PMingLiU"/>
              </a:rPr>
              <a:t>，把平常搭捷運感受到的人潮差異，用數據方式呈現出</a:t>
            </a:r>
            <a:r>
              <a:rPr lang="zh-CN" altLang="en-US" sz="1500" spc="-5" dirty="0">
                <a:solidFill>
                  <a:srgbClr val="FEFEFE"/>
                </a:solidFill>
                <a:latin typeface="PMingLiU"/>
                <a:ea typeface="PMingLiU"/>
              </a:rPr>
              <a:t>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0" y="0"/>
            <a:ext cx="2009775" cy="6857999"/>
          </a:xfrm>
          <a:custGeom>
            <a:avLst/>
            <a:gdLst>
              <a:gd name="connsiteX0" fmla="*/ 0 w 2009775"/>
              <a:gd name="connsiteY0" fmla="*/ 6857999 h 6857999"/>
              <a:gd name="connsiteX1" fmla="*/ 2009775 w 2009775"/>
              <a:gd name="connsiteY1" fmla="*/ 6857999 h 6857999"/>
              <a:gd name="connsiteX2" fmla="*/ 2009775 w 2009775"/>
              <a:gd name="connsiteY2" fmla="*/ 0 h 6857999"/>
              <a:gd name="connsiteX3" fmla="*/ 0 w 2009775"/>
              <a:gd name="connsiteY3" fmla="*/ 0 h 6857999"/>
              <a:gd name="connsiteX4" fmla="*/ 0 w 2009775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9775" h="6857999">
                <a:moveTo>
                  <a:pt x="0" y="6857999"/>
                </a:moveTo>
                <a:lnTo>
                  <a:pt x="2009775" y="6857999"/>
                </a:lnTo>
                <a:lnTo>
                  <a:pt x="2009775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7D7D7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1973580"/>
            <a:ext cx="2941320" cy="2895600"/>
          </a:xfrm>
          <a:prstGeom prst="rect">
            <a:avLst/>
          </a:prstGeom>
        </p:spPr>
      </p:pic>
      <p:sp>
        <p:nvSpPr>
          <p:cNvPr id="2" name="Freeform 7"/>
          <p:cNvSpPr/>
          <p:nvPr/>
        </p:nvSpPr>
        <p:spPr>
          <a:xfrm>
            <a:off x="4032250" y="1454150"/>
            <a:ext cx="1885950" cy="615950"/>
          </a:xfrm>
          <a:custGeom>
            <a:avLst/>
            <a:gdLst>
              <a:gd name="connsiteX0" fmla="*/ 6350 w 1885950"/>
              <a:gd name="connsiteY0" fmla="*/ 625221 h 615950"/>
              <a:gd name="connsiteX1" fmla="*/ 1894078 w 1885950"/>
              <a:gd name="connsiteY1" fmla="*/ 625221 h 615950"/>
              <a:gd name="connsiteX2" fmla="*/ 1894078 w 1885950"/>
              <a:gd name="connsiteY2" fmla="*/ 7417 h 615950"/>
              <a:gd name="connsiteX3" fmla="*/ 6350 w 1885950"/>
              <a:gd name="connsiteY3" fmla="*/ 7417 h 615950"/>
              <a:gd name="connsiteX4" fmla="*/ 6350 w 1885950"/>
              <a:gd name="connsiteY4" fmla="*/ 625221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5950" h="615950">
                <a:moveTo>
                  <a:pt x="6350" y="625221"/>
                </a:moveTo>
                <a:lnTo>
                  <a:pt x="1894078" y="625221"/>
                </a:lnTo>
                <a:lnTo>
                  <a:pt x="1894078" y="7417"/>
                </a:lnTo>
                <a:lnTo>
                  <a:pt x="6350" y="7417"/>
                </a:lnTo>
                <a:lnTo>
                  <a:pt x="6350" y="625221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911850" y="1454150"/>
            <a:ext cx="5314950" cy="615950"/>
          </a:xfrm>
          <a:custGeom>
            <a:avLst/>
            <a:gdLst>
              <a:gd name="connsiteX0" fmla="*/ 14478 w 5314950"/>
              <a:gd name="connsiteY0" fmla="*/ 625221 h 615950"/>
              <a:gd name="connsiteX1" fmla="*/ 5314950 w 5314950"/>
              <a:gd name="connsiteY1" fmla="*/ 625221 h 615950"/>
              <a:gd name="connsiteX2" fmla="*/ 5314950 w 5314950"/>
              <a:gd name="connsiteY2" fmla="*/ 7417 h 615950"/>
              <a:gd name="connsiteX3" fmla="*/ 14478 w 5314950"/>
              <a:gd name="connsiteY3" fmla="*/ 7417 h 615950"/>
              <a:gd name="connsiteX4" fmla="*/ 14478 w 5314950"/>
              <a:gd name="connsiteY4" fmla="*/ 625221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950" h="615950">
                <a:moveTo>
                  <a:pt x="14478" y="625221"/>
                </a:moveTo>
                <a:lnTo>
                  <a:pt x="5314950" y="625221"/>
                </a:lnTo>
                <a:lnTo>
                  <a:pt x="5314950" y="7417"/>
                </a:lnTo>
                <a:lnTo>
                  <a:pt x="14478" y="7417"/>
                </a:lnTo>
                <a:lnTo>
                  <a:pt x="14478" y="625221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032250" y="3105150"/>
            <a:ext cx="1885950" cy="628650"/>
          </a:xfrm>
          <a:custGeom>
            <a:avLst/>
            <a:gdLst>
              <a:gd name="connsiteX0" fmla="*/ 6350 w 1885950"/>
              <a:gd name="connsiteY0" fmla="*/ 631063 h 628650"/>
              <a:gd name="connsiteX1" fmla="*/ 1894078 w 1885950"/>
              <a:gd name="connsiteY1" fmla="*/ 631063 h 628650"/>
              <a:gd name="connsiteX2" fmla="*/ 1894078 w 1885950"/>
              <a:gd name="connsiteY2" fmla="*/ 13259 h 628650"/>
              <a:gd name="connsiteX3" fmla="*/ 6350 w 1885950"/>
              <a:gd name="connsiteY3" fmla="*/ 13259 h 628650"/>
              <a:gd name="connsiteX4" fmla="*/ 6350 w 1885950"/>
              <a:gd name="connsiteY4" fmla="*/ 631063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5950" h="628650">
                <a:moveTo>
                  <a:pt x="6350" y="631063"/>
                </a:moveTo>
                <a:lnTo>
                  <a:pt x="1894078" y="631063"/>
                </a:lnTo>
                <a:lnTo>
                  <a:pt x="1894078" y="13259"/>
                </a:lnTo>
                <a:lnTo>
                  <a:pt x="6350" y="13259"/>
                </a:lnTo>
                <a:lnTo>
                  <a:pt x="6350" y="631063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11850" y="3105150"/>
            <a:ext cx="5314950" cy="628650"/>
          </a:xfrm>
          <a:custGeom>
            <a:avLst/>
            <a:gdLst>
              <a:gd name="connsiteX0" fmla="*/ 14478 w 5314950"/>
              <a:gd name="connsiteY0" fmla="*/ 631063 h 628650"/>
              <a:gd name="connsiteX1" fmla="*/ 5314950 w 5314950"/>
              <a:gd name="connsiteY1" fmla="*/ 631063 h 628650"/>
              <a:gd name="connsiteX2" fmla="*/ 5314950 w 5314950"/>
              <a:gd name="connsiteY2" fmla="*/ 13259 h 628650"/>
              <a:gd name="connsiteX3" fmla="*/ 14478 w 5314950"/>
              <a:gd name="connsiteY3" fmla="*/ 13259 h 628650"/>
              <a:gd name="connsiteX4" fmla="*/ 14478 w 5314950"/>
              <a:gd name="connsiteY4" fmla="*/ 631063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950" h="628650">
                <a:moveTo>
                  <a:pt x="14478" y="631063"/>
                </a:moveTo>
                <a:lnTo>
                  <a:pt x="5314950" y="631063"/>
                </a:lnTo>
                <a:lnTo>
                  <a:pt x="5314950" y="13259"/>
                </a:lnTo>
                <a:lnTo>
                  <a:pt x="14478" y="13259"/>
                </a:lnTo>
                <a:lnTo>
                  <a:pt x="14478" y="631063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032250" y="4337050"/>
            <a:ext cx="1885950" cy="1047750"/>
          </a:xfrm>
          <a:custGeom>
            <a:avLst/>
            <a:gdLst>
              <a:gd name="connsiteX0" fmla="*/ 6350 w 1885950"/>
              <a:gd name="connsiteY0" fmla="*/ 1056005 h 1047750"/>
              <a:gd name="connsiteX1" fmla="*/ 1894078 w 1885950"/>
              <a:gd name="connsiteY1" fmla="*/ 1056005 h 1047750"/>
              <a:gd name="connsiteX2" fmla="*/ 1894078 w 1885950"/>
              <a:gd name="connsiteY2" fmla="*/ 16967 h 1047750"/>
              <a:gd name="connsiteX3" fmla="*/ 6350 w 1885950"/>
              <a:gd name="connsiteY3" fmla="*/ 16967 h 1047750"/>
              <a:gd name="connsiteX4" fmla="*/ 6350 w 1885950"/>
              <a:gd name="connsiteY4" fmla="*/ 1056005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5950" h="1047750">
                <a:moveTo>
                  <a:pt x="6350" y="1056005"/>
                </a:moveTo>
                <a:lnTo>
                  <a:pt x="1894078" y="1056005"/>
                </a:lnTo>
                <a:lnTo>
                  <a:pt x="1894078" y="16967"/>
                </a:lnTo>
                <a:lnTo>
                  <a:pt x="6350" y="16967"/>
                </a:lnTo>
                <a:lnTo>
                  <a:pt x="6350" y="1056005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911850" y="4337050"/>
            <a:ext cx="5314950" cy="1047750"/>
          </a:xfrm>
          <a:custGeom>
            <a:avLst/>
            <a:gdLst>
              <a:gd name="connsiteX0" fmla="*/ 14478 w 5314950"/>
              <a:gd name="connsiteY0" fmla="*/ 1056005 h 1047750"/>
              <a:gd name="connsiteX1" fmla="*/ 5314950 w 5314950"/>
              <a:gd name="connsiteY1" fmla="*/ 1056005 h 1047750"/>
              <a:gd name="connsiteX2" fmla="*/ 5314950 w 5314950"/>
              <a:gd name="connsiteY2" fmla="*/ 16967 h 1047750"/>
              <a:gd name="connsiteX3" fmla="*/ 14478 w 5314950"/>
              <a:gd name="connsiteY3" fmla="*/ 16967 h 1047750"/>
              <a:gd name="connsiteX4" fmla="*/ 14478 w 5314950"/>
              <a:gd name="connsiteY4" fmla="*/ 1056005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950" h="1047750">
                <a:moveTo>
                  <a:pt x="14478" y="1056005"/>
                </a:moveTo>
                <a:lnTo>
                  <a:pt x="5314950" y="1056005"/>
                </a:lnTo>
                <a:lnTo>
                  <a:pt x="5314950" y="16967"/>
                </a:lnTo>
                <a:lnTo>
                  <a:pt x="14478" y="16967"/>
                </a:lnTo>
                <a:lnTo>
                  <a:pt x="14478" y="1056005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025900" y="1447800"/>
            <a:ext cx="7200900" cy="38100"/>
          </a:xfrm>
          <a:custGeom>
            <a:avLst/>
            <a:gdLst>
              <a:gd name="connsiteX0" fmla="*/ 12700 w 7200900"/>
              <a:gd name="connsiteY0" fmla="*/ 13716 h 38100"/>
              <a:gd name="connsiteX1" fmla="*/ 7200900 w 7200900"/>
              <a:gd name="connsiteY1" fmla="*/ 13716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00900" h="38100">
                <a:moveTo>
                  <a:pt x="12700" y="13716"/>
                </a:moveTo>
                <a:lnTo>
                  <a:pt x="7200900" y="13716"/>
                </a:lnTo>
              </a:path>
            </a:pathLst>
          </a:custGeom>
          <a:ln w="2540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025900" y="5372100"/>
            <a:ext cx="7200900" cy="38100"/>
          </a:xfrm>
          <a:custGeom>
            <a:avLst/>
            <a:gdLst>
              <a:gd name="connsiteX0" fmla="*/ 12700 w 7200900"/>
              <a:gd name="connsiteY0" fmla="*/ 20955 h 38100"/>
              <a:gd name="connsiteX1" fmla="*/ 7200900 w 7200900"/>
              <a:gd name="connsiteY1" fmla="*/ 20955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00900" h="38100">
                <a:moveTo>
                  <a:pt x="12700" y="20955"/>
                </a:moveTo>
                <a:lnTo>
                  <a:pt x="7200900" y="20955"/>
                </a:lnTo>
              </a:path>
            </a:pathLst>
          </a:custGeom>
          <a:ln w="2540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182109" y="1577667"/>
            <a:ext cx="2721673" cy="41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889505" algn="l"/>
              </a:tabLst>
            </a:pPr>
            <a:r>
              <a:rPr lang="zh-CN" altLang="en-US" sz="2750" spc="25" dirty="0">
                <a:solidFill>
                  <a:srgbClr val="000000"/>
                </a:solidFill>
                <a:latin typeface="PMingLiU"/>
                <a:ea typeface="PMingLiU"/>
              </a:rPr>
              <a:t>項目	</a:t>
            </a:r>
            <a:r>
              <a:rPr lang="zh-CN" altLang="en-US" sz="2750" spc="5" dirty="0">
                <a:solidFill>
                  <a:srgbClr val="000000"/>
                </a:solidFill>
                <a:latin typeface="PMingLiU"/>
                <a:ea typeface="PMingLiU"/>
              </a:rPr>
              <a:t>說明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6994" y="3223856"/>
            <a:ext cx="1337792" cy="396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2600" spc="10" dirty="0">
                <a:solidFill>
                  <a:srgbClr val="FEFEFE"/>
                </a:solidFill>
                <a:latin typeface="PMingLiU"/>
                <a:ea typeface="PMingLiU"/>
              </a:rPr>
              <a:t>資</a:t>
            </a:r>
            <a:r>
              <a:rPr lang="zh-CN" altLang="en-US" sz="2600" spc="5" dirty="0">
                <a:solidFill>
                  <a:srgbClr val="FEFEFE"/>
                </a:solidFill>
                <a:latin typeface="PMingLiU"/>
                <a:ea typeface="PMingLiU"/>
              </a:rPr>
              <a:t>料來源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82109" y="2406755"/>
            <a:ext cx="1433412" cy="12487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2750" spc="50" dirty="0">
                <a:solidFill>
                  <a:srgbClr val="000000"/>
                </a:solidFill>
                <a:latin typeface="PMingLiU"/>
                <a:ea typeface="PMingLiU"/>
              </a:rPr>
              <a:t>資料</a:t>
            </a:r>
            <a:r>
              <a:rPr lang="zh-CN" altLang="en-US" sz="2750" spc="40" dirty="0">
                <a:solidFill>
                  <a:srgbClr val="000000"/>
                </a:solidFill>
                <a:latin typeface="PMingLiU"/>
                <a:ea typeface="PMingLiU"/>
              </a:rPr>
              <a:t>名稱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3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zh-CN" altLang="en-US" sz="2750" spc="50" dirty="0">
                <a:solidFill>
                  <a:srgbClr val="000000"/>
                </a:solidFill>
                <a:latin typeface="PMingLiU"/>
                <a:ea typeface="PMingLiU"/>
              </a:rPr>
              <a:t>資料</a:t>
            </a:r>
            <a:r>
              <a:rPr lang="zh-CN" altLang="en-US" sz="2750" spc="40" dirty="0">
                <a:solidFill>
                  <a:srgbClr val="000000"/>
                </a:solidFill>
                <a:latin typeface="PMingLiU"/>
                <a:ea typeface="PMingLiU"/>
              </a:rPr>
              <a:t>月份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71615" y="2177373"/>
            <a:ext cx="4928425" cy="1472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4583"/>
              </a:lnSpc>
            </a:pPr>
            <a:r>
              <a:rPr lang="zh-CN" altLang="en-US" sz="2750" dirty="0">
                <a:solidFill>
                  <a:srgbClr val="000000"/>
                </a:solidFill>
                <a:latin typeface="PMingLiU"/>
                <a:ea typeface="PMingLiU"/>
              </a:rPr>
              <a:t>臺北捷運每日分時各站</a:t>
            </a:r>
            <a:r>
              <a:rPr lang="zh-CN" altLang="en-US" sz="2750" spc="139" dirty="0">
                <a:solidFill>
                  <a:srgbClr val="000000"/>
                </a:solidFill>
                <a:latin typeface="PMingLiU"/>
                <a:cs typeface="PMingLiU"/>
              </a:rPr>
              <a:t> </a:t>
            </a:r>
            <a:r>
              <a:rPr lang="en-US" altLang="zh-CN" sz="2750" dirty="0">
                <a:solidFill>
                  <a:srgbClr val="000000"/>
                </a:solidFill>
                <a:latin typeface="Times New Roman"/>
                <a:ea typeface="Times New Roman"/>
              </a:rPr>
              <a:t>OD</a:t>
            </a:r>
            <a:r>
              <a:rPr lang="en-US" altLang="zh-CN" sz="275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750" dirty="0">
                <a:solidFill>
                  <a:srgbClr val="000000"/>
                </a:solidFill>
                <a:latin typeface="PMingLiU"/>
                <a:ea typeface="PMingLiU"/>
              </a:rPr>
              <a:t>流量</a:t>
            </a:r>
            <a:r>
              <a:rPr lang="zh-CN" altLang="en-US" sz="2750" spc="20" dirty="0">
                <a:solidFill>
                  <a:srgbClr val="000000"/>
                </a:solidFill>
                <a:latin typeface="PMingLiU"/>
                <a:ea typeface="PMingLiU"/>
              </a:rPr>
              <a:t>資料</a:t>
            </a:r>
          </a:p>
          <a:p>
            <a:pPr>
              <a:lnSpc>
                <a:spcPts val="1310"/>
              </a:lnSpc>
            </a:pPr>
            <a:endParaRPr lang="en-US" dirty="0" smtClean="0"/>
          </a:p>
          <a:p>
            <a:pPr marL="0">
              <a:lnSpc>
                <a:spcPct val="102499"/>
              </a:lnSpc>
            </a:pPr>
            <a:r>
              <a:rPr lang="en-US" altLang="zh-CN" sz="2750" dirty="0">
                <a:solidFill>
                  <a:srgbClr val="000000"/>
                </a:solidFill>
                <a:latin typeface="Times New Roman"/>
                <a:ea typeface="Times New Roman"/>
              </a:rPr>
              <a:t>2026</a:t>
            </a:r>
            <a:r>
              <a:rPr lang="en-US" altLang="zh-CN" sz="275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750" dirty="0">
                <a:solidFill>
                  <a:srgbClr val="000000"/>
                </a:solidFill>
                <a:latin typeface="PMingLiU"/>
                <a:ea typeface="PMingLiU"/>
              </a:rPr>
              <a:t>年</a:t>
            </a:r>
            <a:r>
              <a:rPr lang="zh-CN" altLang="en-US" sz="2750" spc="114" dirty="0">
                <a:solidFill>
                  <a:srgbClr val="000000"/>
                </a:solidFill>
                <a:latin typeface="PMingLiU"/>
                <a:cs typeface="PMingLiU"/>
              </a:rPr>
              <a:t> </a:t>
            </a:r>
            <a:r>
              <a:rPr lang="en-US" altLang="zh-CN" sz="275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275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750" dirty="0">
                <a:solidFill>
                  <a:srgbClr val="000000"/>
                </a:solidFill>
                <a:latin typeface="PMingLiU"/>
                <a:ea typeface="PMingLiU"/>
              </a:rPr>
              <a:t>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82109" y="3839721"/>
            <a:ext cx="5647124" cy="4295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2499"/>
              </a:lnSpc>
              <a:tabLst>
                <a:tab pos="1889505" algn="l"/>
              </a:tabLst>
            </a:pPr>
            <a:r>
              <a:rPr lang="zh-CN" altLang="en-US" sz="2750" spc="44" dirty="0">
                <a:solidFill>
                  <a:srgbClr val="000000"/>
                </a:solidFill>
                <a:latin typeface="PMingLiU"/>
                <a:ea typeface="PMingLiU"/>
              </a:rPr>
              <a:t>分析工具	</a:t>
            </a:r>
            <a:r>
              <a:rPr lang="en-US" altLang="zh-CN" sz="2750" spc="34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27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40" dirty="0">
                <a:solidFill>
                  <a:srgbClr val="000000"/>
                </a:solidFill>
                <a:latin typeface="Times New Roman"/>
                <a:ea typeface="Times New Roman"/>
              </a:rPr>
              <a:t>BI</a:t>
            </a:r>
            <a:r>
              <a:rPr lang="zh-CN" altLang="en-US" sz="2750" spc="80" dirty="0">
                <a:solidFill>
                  <a:srgbClr val="000000"/>
                </a:solidFill>
                <a:latin typeface="PMingLiU"/>
                <a:ea typeface="PMingLiU"/>
              </a:rPr>
              <a:t>、</a:t>
            </a:r>
            <a:r>
              <a:rPr lang="en-US" altLang="zh-CN" sz="2750" spc="34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27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4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82109" y="4684626"/>
            <a:ext cx="1433412" cy="41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2750" spc="50" dirty="0">
                <a:solidFill>
                  <a:srgbClr val="000000"/>
                </a:solidFill>
                <a:latin typeface="PMingLiU"/>
                <a:ea typeface="PMingLiU"/>
              </a:rPr>
              <a:t>分析</a:t>
            </a:r>
            <a:r>
              <a:rPr lang="zh-CN" altLang="en-US" sz="2750" spc="40" dirty="0">
                <a:solidFill>
                  <a:srgbClr val="000000"/>
                </a:solidFill>
                <a:latin typeface="PMingLiU"/>
                <a:ea typeface="PMingLiU"/>
              </a:rPr>
              <a:t>重點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71615" y="4480887"/>
            <a:ext cx="4983905" cy="838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2750" spc="50" dirty="0">
                <a:solidFill>
                  <a:srgbClr val="000000"/>
                </a:solidFill>
                <a:latin typeface="PMingLiU"/>
                <a:ea typeface="PMingLiU"/>
              </a:rPr>
              <a:t>時</a:t>
            </a:r>
            <a:r>
              <a:rPr lang="zh-CN" altLang="en-US" sz="2750" spc="44" dirty="0">
                <a:solidFill>
                  <a:srgbClr val="000000"/>
                </a:solidFill>
                <a:latin typeface="PMingLiU"/>
                <a:ea typeface="PMingLiU"/>
              </a:rPr>
              <a:t>段變化、平假日差異、代表性</a:t>
            </a:r>
          </a:p>
          <a:p>
            <a:pPr marL="0">
              <a:lnSpc>
                <a:spcPct val="100000"/>
              </a:lnSpc>
            </a:pPr>
            <a:r>
              <a:rPr lang="zh-CN" altLang="en-US" sz="2750" spc="50" dirty="0">
                <a:solidFill>
                  <a:srgbClr val="000000"/>
                </a:solidFill>
                <a:latin typeface="PMingLiU"/>
                <a:ea typeface="PMingLiU"/>
              </a:rPr>
              <a:t>車站</a:t>
            </a:r>
            <a:r>
              <a:rPr lang="zh-CN" altLang="en-US" sz="2750" spc="40" dirty="0">
                <a:solidFill>
                  <a:srgbClr val="000000"/>
                </a:solidFill>
                <a:latin typeface="PMingLiU"/>
                <a:ea typeface="PMingLiU"/>
              </a:rPr>
              <a:t>比較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0" y="0"/>
            <a:ext cx="2009775" cy="6857999"/>
          </a:xfrm>
          <a:custGeom>
            <a:avLst/>
            <a:gdLst>
              <a:gd name="connsiteX0" fmla="*/ 0 w 2009775"/>
              <a:gd name="connsiteY0" fmla="*/ 6857999 h 6857999"/>
              <a:gd name="connsiteX1" fmla="*/ 2009775 w 2009775"/>
              <a:gd name="connsiteY1" fmla="*/ 6857999 h 6857999"/>
              <a:gd name="connsiteX2" fmla="*/ 2009775 w 2009775"/>
              <a:gd name="connsiteY2" fmla="*/ 0 h 6857999"/>
              <a:gd name="connsiteX3" fmla="*/ 0 w 2009775"/>
              <a:gd name="connsiteY3" fmla="*/ 0 h 6857999"/>
              <a:gd name="connsiteX4" fmla="*/ 0 w 2009775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9775" h="6857999">
                <a:moveTo>
                  <a:pt x="0" y="6857999"/>
                </a:moveTo>
                <a:lnTo>
                  <a:pt x="2009775" y="6857999"/>
                </a:lnTo>
                <a:lnTo>
                  <a:pt x="2009775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7D7D7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1973580"/>
            <a:ext cx="2941320" cy="2895600"/>
          </a:xfrm>
          <a:prstGeom prst="rect">
            <a:avLst/>
          </a:prstGeom>
        </p:spPr>
      </p:pic>
      <p:sp>
        <p:nvSpPr>
          <p:cNvPr id="2" name="Freeform 24"/>
          <p:cNvSpPr/>
          <p:nvPr/>
        </p:nvSpPr>
        <p:spPr>
          <a:xfrm>
            <a:off x="4032250" y="1276350"/>
            <a:ext cx="7194550" cy="4286250"/>
          </a:xfrm>
          <a:custGeom>
            <a:avLst/>
            <a:gdLst>
              <a:gd name="connsiteX0" fmla="*/ 6350 w 7194550"/>
              <a:gd name="connsiteY0" fmla="*/ 4294378 h 4286250"/>
              <a:gd name="connsiteX1" fmla="*/ 7194550 w 7194550"/>
              <a:gd name="connsiteY1" fmla="*/ 4294378 h 4286250"/>
              <a:gd name="connsiteX2" fmla="*/ 7194550 w 7194550"/>
              <a:gd name="connsiteY2" fmla="*/ 7493 h 4286250"/>
              <a:gd name="connsiteX3" fmla="*/ 6350 w 7194550"/>
              <a:gd name="connsiteY3" fmla="*/ 7493 h 4286250"/>
              <a:gd name="connsiteX4" fmla="*/ 6350 w 7194550"/>
              <a:gd name="connsiteY4" fmla="*/ 4294378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550" h="4286250">
                <a:moveTo>
                  <a:pt x="6350" y="4294378"/>
                </a:moveTo>
                <a:lnTo>
                  <a:pt x="7194550" y="4294378"/>
                </a:lnTo>
                <a:lnTo>
                  <a:pt x="7194550" y="7493"/>
                </a:lnTo>
                <a:lnTo>
                  <a:pt x="6350" y="7493"/>
                </a:lnTo>
                <a:lnTo>
                  <a:pt x="6350" y="4294378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4032250" y="1276350"/>
            <a:ext cx="1911350" cy="717550"/>
          </a:xfrm>
          <a:custGeom>
            <a:avLst/>
            <a:gdLst>
              <a:gd name="connsiteX0" fmla="*/ 6350 w 1911350"/>
              <a:gd name="connsiteY0" fmla="*/ 721995 h 717550"/>
              <a:gd name="connsiteX1" fmla="*/ 1912492 w 1911350"/>
              <a:gd name="connsiteY1" fmla="*/ 721995 h 717550"/>
              <a:gd name="connsiteX2" fmla="*/ 1912492 w 1911350"/>
              <a:gd name="connsiteY2" fmla="*/ 7505 h 717550"/>
              <a:gd name="connsiteX3" fmla="*/ 6350 w 1911350"/>
              <a:gd name="connsiteY3" fmla="*/ 7505 h 717550"/>
              <a:gd name="connsiteX4" fmla="*/ 6350 w 1911350"/>
              <a:gd name="connsiteY4" fmla="*/ 72199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17550">
                <a:moveTo>
                  <a:pt x="6350" y="721995"/>
                </a:moveTo>
                <a:lnTo>
                  <a:pt x="1912492" y="721995"/>
                </a:lnTo>
                <a:lnTo>
                  <a:pt x="1912492" y="7505"/>
                </a:lnTo>
                <a:lnTo>
                  <a:pt x="6350" y="7505"/>
                </a:lnTo>
                <a:lnTo>
                  <a:pt x="6350" y="721995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5937250" y="1276350"/>
            <a:ext cx="5289550" cy="717550"/>
          </a:xfrm>
          <a:custGeom>
            <a:avLst/>
            <a:gdLst>
              <a:gd name="connsiteX0" fmla="*/ 7492 w 5289550"/>
              <a:gd name="connsiteY0" fmla="*/ 721995 h 717550"/>
              <a:gd name="connsiteX1" fmla="*/ 5289550 w 5289550"/>
              <a:gd name="connsiteY1" fmla="*/ 721995 h 717550"/>
              <a:gd name="connsiteX2" fmla="*/ 5289550 w 5289550"/>
              <a:gd name="connsiteY2" fmla="*/ 7505 h 717550"/>
              <a:gd name="connsiteX3" fmla="*/ 7492 w 5289550"/>
              <a:gd name="connsiteY3" fmla="*/ 7505 h 717550"/>
              <a:gd name="connsiteX4" fmla="*/ 7492 w 5289550"/>
              <a:gd name="connsiteY4" fmla="*/ 72199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17550">
                <a:moveTo>
                  <a:pt x="7492" y="721995"/>
                </a:moveTo>
                <a:lnTo>
                  <a:pt x="5289550" y="721995"/>
                </a:lnTo>
                <a:lnTo>
                  <a:pt x="5289550" y="7505"/>
                </a:lnTo>
                <a:lnTo>
                  <a:pt x="7492" y="7505"/>
                </a:lnTo>
                <a:lnTo>
                  <a:pt x="7492" y="721995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4032250" y="1987550"/>
            <a:ext cx="1911350" cy="717550"/>
          </a:xfrm>
          <a:custGeom>
            <a:avLst/>
            <a:gdLst>
              <a:gd name="connsiteX0" fmla="*/ 6350 w 1911350"/>
              <a:gd name="connsiteY0" fmla="*/ 725297 h 717550"/>
              <a:gd name="connsiteX1" fmla="*/ 1912492 w 1911350"/>
              <a:gd name="connsiteY1" fmla="*/ 725297 h 717550"/>
              <a:gd name="connsiteX2" fmla="*/ 1912492 w 1911350"/>
              <a:gd name="connsiteY2" fmla="*/ 10807 h 717550"/>
              <a:gd name="connsiteX3" fmla="*/ 6350 w 1911350"/>
              <a:gd name="connsiteY3" fmla="*/ 10807 h 717550"/>
              <a:gd name="connsiteX4" fmla="*/ 6350 w 1911350"/>
              <a:gd name="connsiteY4" fmla="*/ 725297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17550">
                <a:moveTo>
                  <a:pt x="6350" y="725297"/>
                </a:moveTo>
                <a:lnTo>
                  <a:pt x="1912492" y="725297"/>
                </a:lnTo>
                <a:lnTo>
                  <a:pt x="1912492" y="10807"/>
                </a:lnTo>
                <a:lnTo>
                  <a:pt x="6350" y="10807"/>
                </a:lnTo>
                <a:lnTo>
                  <a:pt x="6350" y="725297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5937250" y="1987550"/>
            <a:ext cx="5289550" cy="717550"/>
          </a:xfrm>
          <a:custGeom>
            <a:avLst/>
            <a:gdLst>
              <a:gd name="connsiteX0" fmla="*/ 7492 w 5289550"/>
              <a:gd name="connsiteY0" fmla="*/ 725297 h 717550"/>
              <a:gd name="connsiteX1" fmla="*/ 5289550 w 5289550"/>
              <a:gd name="connsiteY1" fmla="*/ 725297 h 717550"/>
              <a:gd name="connsiteX2" fmla="*/ 5289550 w 5289550"/>
              <a:gd name="connsiteY2" fmla="*/ 10807 h 717550"/>
              <a:gd name="connsiteX3" fmla="*/ 7492 w 5289550"/>
              <a:gd name="connsiteY3" fmla="*/ 10807 h 717550"/>
              <a:gd name="connsiteX4" fmla="*/ 7492 w 5289550"/>
              <a:gd name="connsiteY4" fmla="*/ 725297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17550">
                <a:moveTo>
                  <a:pt x="7492" y="725297"/>
                </a:moveTo>
                <a:lnTo>
                  <a:pt x="5289550" y="725297"/>
                </a:lnTo>
                <a:lnTo>
                  <a:pt x="5289550" y="10807"/>
                </a:lnTo>
                <a:lnTo>
                  <a:pt x="7492" y="10807"/>
                </a:lnTo>
                <a:lnTo>
                  <a:pt x="7492" y="725297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4032250" y="2698750"/>
            <a:ext cx="1911350" cy="717550"/>
          </a:xfrm>
          <a:custGeom>
            <a:avLst/>
            <a:gdLst>
              <a:gd name="connsiteX0" fmla="*/ 6350 w 1911350"/>
              <a:gd name="connsiteY0" fmla="*/ 728599 h 717550"/>
              <a:gd name="connsiteX1" fmla="*/ 1912492 w 1911350"/>
              <a:gd name="connsiteY1" fmla="*/ 728599 h 717550"/>
              <a:gd name="connsiteX2" fmla="*/ 1912492 w 1911350"/>
              <a:gd name="connsiteY2" fmla="*/ 14109 h 717550"/>
              <a:gd name="connsiteX3" fmla="*/ 6350 w 1911350"/>
              <a:gd name="connsiteY3" fmla="*/ 14109 h 717550"/>
              <a:gd name="connsiteX4" fmla="*/ 6350 w 1911350"/>
              <a:gd name="connsiteY4" fmla="*/ 728599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17550">
                <a:moveTo>
                  <a:pt x="6350" y="728599"/>
                </a:moveTo>
                <a:lnTo>
                  <a:pt x="1912492" y="728599"/>
                </a:lnTo>
                <a:lnTo>
                  <a:pt x="1912492" y="14109"/>
                </a:lnTo>
                <a:lnTo>
                  <a:pt x="6350" y="14109"/>
                </a:lnTo>
                <a:lnTo>
                  <a:pt x="6350" y="728599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5937250" y="2698750"/>
            <a:ext cx="5289550" cy="717550"/>
          </a:xfrm>
          <a:custGeom>
            <a:avLst/>
            <a:gdLst>
              <a:gd name="connsiteX0" fmla="*/ 7492 w 5289550"/>
              <a:gd name="connsiteY0" fmla="*/ 728599 h 717550"/>
              <a:gd name="connsiteX1" fmla="*/ 5289550 w 5289550"/>
              <a:gd name="connsiteY1" fmla="*/ 728599 h 717550"/>
              <a:gd name="connsiteX2" fmla="*/ 5289550 w 5289550"/>
              <a:gd name="connsiteY2" fmla="*/ 14109 h 717550"/>
              <a:gd name="connsiteX3" fmla="*/ 7492 w 5289550"/>
              <a:gd name="connsiteY3" fmla="*/ 14109 h 717550"/>
              <a:gd name="connsiteX4" fmla="*/ 7492 w 5289550"/>
              <a:gd name="connsiteY4" fmla="*/ 728599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17550">
                <a:moveTo>
                  <a:pt x="7492" y="728599"/>
                </a:moveTo>
                <a:lnTo>
                  <a:pt x="5289550" y="728599"/>
                </a:lnTo>
                <a:lnTo>
                  <a:pt x="5289550" y="14109"/>
                </a:lnTo>
                <a:lnTo>
                  <a:pt x="7492" y="14109"/>
                </a:lnTo>
                <a:lnTo>
                  <a:pt x="7492" y="728599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4032250" y="3409950"/>
            <a:ext cx="1911350" cy="730250"/>
          </a:xfrm>
          <a:custGeom>
            <a:avLst/>
            <a:gdLst>
              <a:gd name="connsiteX0" fmla="*/ 6350 w 1911350"/>
              <a:gd name="connsiteY0" fmla="*/ 731901 h 730250"/>
              <a:gd name="connsiteX1" fmla="*/ 1912492 w 1911350"/>
              <a:gd name="connsiteY1" fmla="*/ 731901 h 730250"/>
              <a:gd name="connsiteX2" fmla="*/ 1912492 w 1911350"/>
              <a:gd name="connsiteY2" fmla="*/ 17412 h 730250"/>
              <a:gd name="connsiteX3" fmla="*/ 6350 w 1911350"/>
              <a:gd name="connsiteY3" fmla="*/ 17412 h 730250"/>
              <a:gd name="connsiteX4" fmla="*/ 6350 w 1911350"/>
              <a:gd name="connsiteY4" fmla="*/ 731901 h 7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30250">
                <a:moveTo>
                  <a:pt x="6350" y="731901"/>
                </a:moveTo>
                <a:lnTo>
                  <a:pt x="1912492" y="731901"/>
                </a:lnTo>
                <a:lnTo>
                  <a:pt x="1912492" y="17412"/>
                </a:lnTo>
                <a:lnTo>
                  <a:pt x="6350" y="17412"/>
                </a:lnTo>
                <a:lnTo>
                  <a:pt x="6350" y="731901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5937250" y="3409950"/>
            <a:ext cx="5289550" cy="730250"/>
          </a:xfrm>
          <a:custGeom>
            <a:avLst/>
            <a:gdLst>
              <a:gd name="connsiteX0" fmla="*/ 7492 w 5289550"/>
              <a:gd name="connsiteY0" fmla="*/ 731901 h 730250"/>
              <a:gd name="connsiteX1" fmla="*/ 5289550 w 5289550"/>
              <a:gd name="connsiteY1" fmla="*/ 731901 h 730250"/>
              <a:gd name="connsiteX2" fmla="*/ 5289550 w 5289550"/>
              <a:gd name="connsiteY2" fmla="*/ 17412 h 730250"/>
              <a:gd name="connsiteX3" fmla="*/ 7492 w 5289550"/>
              <a:gd name="connsiteY3" fmla="*/ 17412 h 730250"/>
              <a:gd name="connsiteX4" fmla="*/ 7492 w 5289550"/>
              <a:gd name="connsiteY4" fmla="*/ 731901 h 7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30250">
                <a:moveTo>
                  <a:pt x="7492" y="731901"/>
                </a:moveTo>
                <a:lnTo>
                  <a:pt x="5289550" y="731901"/>
                </a:lnTo>
                <a:lnTo>
                  <a:pt x="5289550" y="17412"/>
                </a:lnTo>
                <a:lnTo>
                  <a:pt x="7492" y="17412"/>
                </a:lnTo>
                <a:lnTo>
                  <a:pt x="7492" y="731901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032250" y="4133850"/>
            <a:ext cx="1911350" cy="717550"/>
          </a:xfrm>
          <a:custGeom>
            <a:avLst/>
            <a:gdLst>
              <a:gd name="connsiteX0" fmla="*/ 6350 w 1911350"/>
              <a:gd name="connsiteY0" fmla="*/ 722376 h 717550"/>
              <a:gd name="connsiteX1" fmla="*/ 1912492 w 1911350"/>
              <a:gd name="connsiteY1" fmla="*/ 722376 h 717550"/>
              <a:gd name="connsiteX2" fmla="*/ 1912492 w 1911350"/>
              <a:gd name="connsiteY2" fmla="*/ 7887 h 717550"/>
              <a:gd name="connsiteX3" fmla="*/ 6350 w 1911350"/>
              <a:gd name="connsiteY3" fmla="*/ 7887 h 717550"/>
              <a:gd name="connsiteX4" fmla="*/ 6350 w 1911350"/>
              <a:gd name="connsiteY4" fmla="*/ 722376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17550">
                <a:moveTo>
                  <a:pt x="6350" y="722376"/>
                </a:moveTo>
                <a:lnTo>
                  <a:pt x="1912492" y="722376"/>
                </a:lnTo>
                <a:lnTo>
                  <a:pt x="1912492" y="7887"/>
                </a:lnTo>
                <a:lnTo>
                  <a:pt x="6350" y="7887"/>
                </a:lnTo>
                <a:lnTo>
                  <a:pt x="6350" y="722376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5937250" y="4133850"/>
            <a:ext cx="5289550" cy="717550"/>
          </a:xfrm>
          <a:custGeom>
            <a:avLst/>
            <a:gdLst>
              <a:gd name="connsiteX0" fmla="*/ 7492 w 5289550"/>
              <a:gd name="connsiteY0" fmla="*/ 722376 h 717550"/>
              <a:gd name="connsiteX1" fmla="*/ 5289550 w 5289550"/>
              <a:gd name="connsiteY1" fmla="*/ 722376 h 717550"/>
              <a:gd name="connsiteX2" fmla="*/ 5289550 w 5289550"/>
              <a:gd name="connsiteY2" fmla="*/ 7887 h 717550"/>
              <a:gd name="connsiteX3" fmla="*/ 7492 w 5289550"/>
              <a:gd name="connsiteY3" fmla="*/ 7887 h 717550"/>
              <a:gd name="connsiteX4" fmla="*/ 7492 w 5289550"/>
              <a:gd name="connsiteY4" fmla="*/ 722376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17550">
                <a:moveTo>
                  <a:pt x="7492" y="722376"/>
                </a:moveTo>
                <a:lnTo>
                  <a:pt x="5289550" y="722376"/>
                </a:lnTo>
                <a:lnTo>
                  <a:pt x="5289550" y="7887"/>
                </a:lnTo>
                <a:lnTo>
                  <a:pt x="7492" y="7887"/>
                </a:lnTo>
                <a:lnTo>
                  <a:pt x="7492" y="722376"/>
                </a:lnTo>
                <a:close/>
              </a:path>
            </a:pathLst>
          </a:custGeom>
          <a:solidFill>
            <a:srgbClr val="3F3F3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4032250" y="4845050"/>
            <a:ext cx="1911350" cy="717550"/>
          </a:xfrm>
          <a:custGeom>
            <a:avLst/>
            <a:gdLst>
              <a:gd name="connsiteX0" fmla="*/ 6350 w 1911350"/>
              <a:gd name="connsiteY0" fmla="*/ 725678 h 717550"/>
              <a:gd name="connsiteX1" fmla="*/ 1912492 w 1911350"/>
              <a:gd name="connsiteY1" fmla="*/ 725678 h 717550"/>
              <a:gd name="connsiteX2" fmla="*/ 1912492 w 1911350"/>
              <a:gd name="connsiteY2" fmla="*/ 11188 h 717550"/>
              <a:gd name="connsiteX3" fmla="*/ 6350 w 1911350"/>
              <a:gd name="connsiteY3" fmla="*/ 11188 h 717550"/>
              <a:gd name="connsiteX4" fmla="*/ 6350 w 1911350"/>
              <a:gd name="connsiteY4" fmla="*/ 725678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350" h="717550">
                <a:moveTo>
                  <a:pt x="6350" y="725678"/>
                </a:moveTo>
                <a:lnTo>
                  <a:pt x="1912492" y="725678"/>
                </a:lnTo>
                <a:lnTo>
                  <a:pt x="1912492" y="11188"/>
                </a:lnTo>
                <a:lnTo>
                  <a:pt x="6350" y="11188"/>
                </a:lnTo>
                <a:lnTo>
                  <a:pt x="6350" y="725678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5937250" y="4845050"/>
            <a:ext cx="5289550" cy="717550"/>
          </a:xfrm>
          <a:custGeom>
            <a:avLst/>
            <a:gdLst>
              <a:gd name="connsiteX0" fmla="*/ 7492 w 5289550"/>
              <a:gd name="connsiteY0" fmla="*/ 725678 h 717550"/>
              <a:gd name="connsiteX1" fmla="*/ 5289550 w 5289550"/>
              <a:gd name="connsiteY1" fmla="*/ 725678 h 717550"/>
              <a:gd name="connsiteX2" fmla="*/ 5289550 w 5289550"/>
              <a:gd name="connsiteY2" fmla="*/ 11188 h 717550"/>
              <a:gd name="connsiteX3" fmla="*/ 7492 w 5289550"/>
              <a:gd name="connsiteY3" fmla="*/ 11188 h 717550"/>
              <a:gd name="connsiteX4" fmla="*/ 7492 w 5289550"/>
              <a:gd name="connsiteY4" fmla="*/ 725678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50" h="717550">
                <a:moveTo>
                  <a:pt x="7492" y="725678"/>
                </a:moveTo>
                <a:lnTo>
                  <a:pt x="5289550" y="725678"/>
                </a:lnTo>
                <a:lnTo>
                  <a:pt x="5289550" y="11188"/>
                </a:lnTo>
                <a:lnTo>
                  <a:pt x="7492" y="11188"/>
                </a:lnTo>
                <a:lnTo>
                  <a:pt x="7492" y="725678"/>
                </a:lnTo>
                <a:close/>
              </a:path>
            </a:pathLst>
          </a:custGeom>
          <a:solidFill>
            <a:srgbClr val="2424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4032250" y="1987550"/>
            <a:ext cx="7194550" cy="19050"/>
          </a:xfrm>
          <a:custGeom>
            <a:avLst/>
            <a:gdLst>
              <a:gd name="connsiteX0" fmla="*/ 6350 w 7194550"/>
              <a:gd name="connsiteY0" fmla="*/ 10795 h 19050"/>
              <a:gd name="connsiteX1" fmla="*/ 7194550 w 7194550"/>
              <a:gd name="connsiteY1" fmla="*/ 1079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94550" h="19050">
                <a:moveTo>
                  <a:pt x="6350" y="10795"/>
                </a:moveTo>
                <a:lnTo>
                  <a:pt x="7194550" y="10795"/>
                </a:lnTo>
              </a:path>
            </a:pathLst>
          </a:custGeom>
          <a:ln w="12700">
            <a:solidFill>
              <a:srgbClr val="BDBDB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4032250" y="3409950"/>
            <a:ext cx="7194550" cy="19050"/>
          </a:xfrm>
          <a:custGeom>
            <a:avLst/>
            <a:gdLst>
              <a:gd name="connsiteX0" fmla="*/ 6350 w 7194550"/>
              <a:gd name="connsiteY0" fmla="*/ 17399 h 19050"/>
              <a:gd name="connsiteX1" fmla="*/ 7194550 w 7194550"/>
              <a:gd name="connsiteY1" fmla="*/ 1739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94550" h="19050">
                <a:moveTo>
                  <a:pt x="6350" y="17399"/>
                </a:moveTo>
                <a:lnTo>
                  <a:pt x="7194550" y="17399"/>
                </a:lnTo>
              </a:path>
            </a:pathLst>
          </a:custGeom>
          <a:ln w="12700">
            <a:solidFill>
              <a:srgbClr val="BDBDB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4032250" y="4845050"/>
            <a:ext cx="7194550" cy="19050"/>
          </a:xfrm>
          <a:custGeom>
            <a:avLst/>
            <a:gdLst>
              <a:gd name="connsiteX0" fmla="*/ 6350 w 7194550"/>
              <a:gd name="connsiteY0" fmla="*/ 11176 h 19050"/>
              <a:gd name="connsiteX1" fmla="*/ 7194550 w 7194550"/>
              <a:gd name="connsiteY1" fmla="*/ 11176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94550" h="19050">
                <a:moveTo>
                  <a:pt x="6350" y="11176"/>
                </a:moveTo>
                <a:lnTo>
                  <a:pt x="7194550" y="11176"/>
                </a:lnTo>
              </a:path>
            </a:pathLst>
          </a:custGeom>
          <a:ln w="12700">
            <a:solidFill>
              <a:srgbClr val="BDBDB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4032250" y="1276350"/>
            <a:ext cx="7194550" cy="19050"/>
          </a:xfrm>
          <a:custGeom>
            <a:avLst/>
            <a:gdLst>
              <a:gd name="connsiteX0" fmla="*/ 6350 w 7194550"/>
              <a:gd name="connsiteY0" fmla="*/ 7493 h 19050"/>
              <a:gd name="connsiteX1" fmla="*/ 7194550 w 7194550"/>
              <a:gd name="connsiteY1" fmla="*/ 7493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94550" h="19050">
                <a:moveTo>
                  <a:pt x="6350" y="7493"/>
                </a:moveTo>
                <a:lnTo>
                  <a:pt x="7194550" y="7493"/>
                </a:lnTo>
              </a:path>
            </a:pathLst>
          </a:custGeom>
          <a:ln w="12700">
            <a:solidFill>
              <a:srgbClr val="BDBDBD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4225035" y="1517570"/>
            <a:ext cx="2644775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907540" algn="l"/>
              </a:tabLst>
            </a:pPr>
            <a:r>
              <a:rPr lang="zh-CN" altLang="en-US" sz="2400" dirty="0">
                <a:solidFill>
                  <a:srgbClr val="FEFEFE"/>
                </a:solidFill>
                <a:latin typeface="PMingLiU"/>
                <a:ea typeface="PMingLiU"/>
              </a:rPr>
              <a:t>欄位	</a:t>
            </a:r>
            <a:r>
              <a:rPr lang="zh-CN" altLang="en-US" sz="2400" spc="-20" dirty="0">
                <a:solidFill>
                  <a:srgbClr val="FEFEFE"/>
                </a:solidFill>
                <a:latin typeface="PMingLiU"/>
                <a:ea typeface="PMingLiU"/>
              </a:rPr>
              <a:t>意思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91577" y="3023354"/>
            <a:ext cx="1672729" cy="7924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2600" spc="15" dirty="0">
                <a:solidFill>
                  <a:srgbClr val="FEFEFE"/>
                </a:solidFill>
                <a:latin typeface="PMingLiU"/>
                <a:ea typeface="PMingLiU"/>
              </a:rPr>
              <a:t>資料欄</a:t>
            </a:r>
            <a:r>
              <a:rPr lang="zh-CN" altLang="en-US" sz="2600" spc="10" dirty="0">
                <a:solidFill>
                  <a:srgbClr val="FEFEFE"/>
                </a:solidFill>
                <a:latin typeface="PMingLiU"/>
                <a:ea typeface="PMingLiU"/>
              </a:rPr>
              <a:t>位說</a:t>
            </a:r>
          </a:p>
          <a:p>
            <a:pPr marL="0" indent="661098">
              <a:lnSpc>
                <a:spcPct val="100000"/>
              </a:lnSpc>
            </a:pPr>
            <a:r>
              <a:rPr lang="zh-CN" altLang="en-US" sz="2600" spc="15" dirty="0">
                <a:solidFill>
                  <a:srgbClr val="FEFEFE"/>
                </a:solidFill>
                <a:latin typeface="PMingLiU"/>
                <a:ea typeface="PMingLiU"/>
              </a:rPr>
              <a:t>明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25035" y="2057689"/>
            <a:ext cx="623252" cy="2146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95416"/>
              </a:lnSpc>
            </a:pPr>
            <a:r>
              <a:rPr lang="zh-CN" altLang="en-US" sz="2400" spc="-25" dirty="0">
                <a:solidFill>
                  <a:srgbClr val="FEFEFE"/>
                </a:solidFill>
                <a:latin typeface="PMingLiU"/>
                <a:ea typeface="PMingLiU"/>
              </a:rPr>
              <a:t>日期時段</a:t>
            </a:r>
            <a:r>
              <a:rPr lang="zh-CN" altLang="en-US" sz="2400" spc="-35" dirty="0">
                <a:solidFill>
                  <a:srgbClr val="FEFEFE"/>
                </a:solidFill>
                <a:latin typeface="PMingLiU"/>
                <a:ea typeface="PMingLiU"/>
              </a:rPr>
              <a:t>進站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32576" y="2057689"/>
            <a:ext cx="1843723" cy="2146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95416"/>
              </a:lnSpc>
            </a:pPr>
            <a:r>
              <a:rPr lang="zh-CN" altLang="en-US" sz="2400" spc="-10" dirty="0">
                <a:solidFill>
                  <a:srgbClr val="FEFEFE"/>
                </a:solidFill>
                <a:latin typeface="PMingLiU"/>
                <a:ea typeface="PMingLiU"/>
              </a:rPr>
              <a:t>資</a:t>
            </a:r>
            <a:r>
              <a:rPr lang="zh-CN" altLang="en-US" sz="2400" spc="-5" dirty="0">
                <a:solidFill>
                  <a:srgbClr val="FEFEFE"/>
                </a:solidFill>
                <a:latin typeface="PMingLiU"/>
                <a:ea typeface="PMingLiU"/>
              </a:rPr>
              <a:t>料發生日期</a:t>
            </a:r>
            <a:r>
              <a:rPr lang="zh-CN" altLang="en-US" sz="2400" spc="-10" dirty="0">
                <a:solidFill>
                  <a:srgbClr val="FEFEFE"/>
                </a:solidFill>
                <a:latin typeface="PMingLiU"/>
                <a:ea typeface="PMingLiU"/>
              </a:rPr>
              <a:t>一</a:t>
            </a:r>
            <a:r>
              <a:rPr lang="zh-CN" altLang="en-US" sz="2400" spc="-5" dirty="0">
                <a:solidFill>
                  <a:srgbClr val="FEFEFE"/>
                </a:solidFill>
                <a:latin typeface="PMingLiU"/>
                <a:ea typeface="PMingLiU"/>
              </a:rPr>
              <a:t>天中的小時</a:t>
            </a:r>
            <a:r>
              <a:rPr lang="zh-CN" altLang="en-US" sz="2400" spc="-15" dirty="0">
                <a:solidFill>
                  <a:srgbClr val="FEFEFE"/>
                </a:solidFill>
                <a:latin typeface="PMingLiU"/>
                <a:ea typeface="PMingLiU"/>
              </a:rPr>
              <a:t>乘客出</a:t>
            </a:r>
            <a:r>
              <a:rPr lang="zh-CN" altLang="en-US" sz="2400" spc="-5" dirty="0">
                <a:solidFill>
                  <a:srgbClr val="FEFEFE"/>
                </a:solidFill>
                <a:latin typeface="PMingLiU"/>
                <a:ea typeface="PMingLiU"/>
              </a:rPr>
              <a:t>發車站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25035" y="4379641"/>
            <a:ext cx="3865246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907540" algn="l"/>
              </a:tabLst>
            </a:pPr>
            <a:r>
              <a:rPr lang="zh-CN" altLang="en-US" sz="2400" dirty="0">
                <a:solidFill>
                  <a:srgbClr val="FEFEFE"/>
                </a:solidFill>
                <a:latin typeface="PMingLiU"/>
                <a:ea typeface="PMingLiU"/>
              </a:rPr>
              <a:t>出站	</a:t>
            </a:r>
            <a:r>
              <a:rPr lang="zh-CN" altLang="en-US" sz="2400" spc="-5" dirty="0">
                <a:solidFill>
                  <a:srgbClr val="FEFEFE"/>
                </a:solidFill>
                <a:latin typeface="PMingLiU"/>
                <a:ea typeface="PMingLiU"/>
              </a:rPr>
              <a:t>乘客抵達車站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25035" y="5083065"/>
            <a:ext cx="4727830" cy="3718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1907540" algn="l"/>
              </a:tabLst>
            </a:pPr>
            <a:r>
              <a:rPr lang="zh-CN" altLang="en-US" sz="2400" dirty="0">
                <a:solidFill>
                  <a:srgbClr val="FEFEFE"/>
                </a:solidFill>
                <a:latin typeface="PMingLiU"/>
                <a:ea typeface="PMingLiU"/>
              </a:rPr>
              <a:t>人次	該時段</a:t>
            </a:r>
            <a:r>
              <a:rPr lang="zh-CN" altLang="en-US" sz="2400" spc="-160" dirty="0">
                <a:solidFill>
                  <a:srgbClr val="FEFEFE"/>
                </a:solidFill>
                <a:latin typeface="PMingLiU"/>
                <a:cs typeface="PMingLiU"/>
              </a:rPr>
              <a:t> </a:t>
            </a:r>
            <a:r>
              <a:rPr lang="en-US" altLang="zh-CN" sz="2400" dirty="0">
                <a:solidFill>
                  <a:srgbClr val="FEFEFE"/>
                </a:solidFill>
                <a:latin typeface="Times New Roman"/>
                <a:ea typeface="Times New Roman"/>
              </a:rPr>
              <a:t>OD</a:t>
            </a:r>
            <a:r>
              <a:rPr lang="en-US" altLang="zh-CN" sz="2400" spc="-16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400" dirty="0">
                <a:solidFill>
                  <a:srgbClr val="FEFEFE"/>
                </a:solidFill>
                <a:latin typeface="PMingLiU"/>
                <a:ea typeface="PMingLiU"/>
              </a:rPr>
              <a:t>搭乘人數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569912" y="2866549"/>
            <a:ext cx="3172874" cy="2910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4800" spc="-35" dirty="0">
                <a:solidFill>
                  <a:srgbClr val="FEFEFE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4800" spc="-304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4800" spc="-30" dirty="0">
                <a:solidFill>
                  <a:srgbClr val="FEFEFE"/>
                </a:solidFill>
                <a:latin typeface="Times New Roman"/>
                <a:ea typeface="Times New Roman"/>
              </a:rPr>
              <a:t>Query</a:t>
            </a:r>
            <a:r>
              <a:rPr lang="zh-CN" altLang="en-US" sz="4800" spc="5" dirty="0">
                <a:solidFill>
                  <a:srgbClr val="FEFEFE"/>
                </a:solidFill>
                <a:latin typeface="PMingLiU"/>
                <a:ea typeface="PMingLiU"/>
              </a:rPr>
              <a:t>資</a:t>
            </a:r>
            <a:r>
              <a:rPr lang="zh-CN" altLang="en-US" sz="4800" dirty="0">
                <a:solidFill>
                  <a:srgbClr val="FEFEFE"/>
                </a:solidFill>
                <a:latin typeface="PMingLiU"/>
                <a:ea typeface="PMingLiU"/>
              </a:rPr>
              <a:t>料整理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7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zh-CN" altLang="en-US" sz="2000" spc="-5" dirty="0">
                <a:solidFill>
                  <a:srgbClr val="FEFEFE"/>
                </a:solidFill>
                <a:latin typeface="PMingLiU"/>
                <a:ea typeface="PMingLiU"/>
              </a:rPr>
              <a:t>檢查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日期、時段、人次格式</a:t>
            </a:r>
          </a:p>
          <a:p>
            <a:pPr marL="0" indent="52387">
              <a:lnSpc>
                <a:spcPct val="93750"/>
              </a:lnSpc>
            </a:pPr>
            <a:r>
              <a:rPr lang="zh-CN" altLang="en-US" sz="2000" spc="10" dirty="0">
                <a:solidFill>
                  <a:srgbClr val="FEFEFE"/>
                </a:solidFill>
                <a:latin typeface="PMingLiU"/>
                <a:ea typeface="PMingLiU"/>
              </a:rPr>
              <a:t>新增平假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日欄位</a:t>
            </a:r>
          </a:p>
          <a:p>
            <a:pPr marL="0" indent="52387">
              <a:lnSpc>
                <a:spcPct val="100000"/>
              </a:lnSpc>
            </a:pPr>
            <a:r>
              <a:rPr lang="zh-CN" altLang="en-US" sz="2000" spc="10" dirty="0">
                <a:solidFill>
                  <a:srgbClr val="FEFEFE"/>
                </a:solidFill>
                <a:latin typeface="PMingLiU"/>
                <a:ea typeface="PMingLiU"/>
              </a:rPr>
              <a:t>新增尖峰</a:t>
            </a:r>
            <a:r>
              <a:rPr lang="zh-CN" altLang="en-US" sz="2000" spc="5" dirty="0">
                <a:solidFill>
                  <a:srgbClr val="FEFEFE"/>
                </a:solidFill>
                <a:latin typeface="PMingLiU"/>
                <a:ea typeface="PMingLiU"/>
              </a:rPr>
              <a:t>分類與車站類型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49"/>
          <p:cNvSpPr/>
          <p:nvPr/>
        </p:nvSpPr>
        <p:spPr>
          <a:xfrm>
            <a:off x="6096000" y="0"/>
            <a:ext cx="6096000" cy="6857999"/>
          </a:xfrm>
          <a:custGeom>
            <a:avLst/>
            <a:gdLst>
              <a:gd name="connsiteX0" fmla="*/ 0 w 6096000"/>
              <a:gd name="connsiteY0" fmla="*/ 6857999 h 6857999"/>
              <a:gd name="connsiteX1" fmla="*/ 6096000 w 6096000"/>
              <a:gd name="connsiteY1" fmla="*/ 6857999 h 6857999"/>
              <a:gd name="connsiteX2" fmla="*/ 6096000 w 6096000"/>
              <a:gd name="connsiteY2" fmla="*/ 0 h 6857999"/>
              <a:gd name="connsiteX3" fmla="*/ 0 w 6096000"/>
              <a:gd name="connsiteY3" fmla="*/ 0 h 6857999"/>
              <a:gd name="connsiteX4" fmla="*/ 0 w 6096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7999">
                <a:moveTo>
                  <a:pt x="0" y="6857999"/>
                </a:moveTo>
                <a:lnTo>
                  <a:pt x="6096000" y="6857999"/>
                </a:lnTo>
                <a:lnTo>
                  <a:pt x="6096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AE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8580" cy="6858000"/>
          </a:xfrm>
          <a:prstGeom prst="rect">
            <a:avLst/>
          </a:prstGeom>
        </p:spPr>
      </p:pic>
      <p:sp>
        <p:nvSpPr>
          <p:cNvPr id="2" name="TextBox 51"/>
          <p:cNvSpPr txBox="1"/>
          <p:nvPr/>
        </p:nvSpPr>
        <p:spPr>
          <a:xfrm>
            <a:off x="8216265" y="2838219"/>
            <a:ext cx="3215641" cy="2325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3600" spc="5" dirty="0">
                <a:solidFill>
                  <a:srgbClr val="242424"/>
                </a:solidFill>
                <a:latin typeface="PMingLiU"/>
                <a:ea typeface="PMingLiU"/>
              </a:rPr>
              <a:t>整體人</a:t>
            </a:r>
            <a:r>
              <a:rPr lang="zh-CN" altLang="en-US" sz="3600" dirty="0">
                <a:solidFill>
                  <a:srgbClr val="242424"/>
                </a:solidFill>
                <a:latin typeface="PMingLiU"/>
                <a:ea typeface="PMingLiU"/>
              </a:rPr>
              <a:t>流時段變</a:t>
            </a:r>
          </a:p>
          <a:p>
            <a:pPr marL="0" indent="1372616">
              <a:lnSpc>
                <a:spcPct val="100000"/>
              </a:lnSpc>
            </a:pPr>
            <a:r>
              <a:rPr lang="zh-CN" altLang="en-US" sz="3600" spc="-10" dirty="0">
                <a:solidFill>
                  <a:srgbClr val="242424"/>
                </a:solidFill>
                <a:latin typeface="PMingLiU"/>
                <a:ea typeface="PMingLiU"/>
              </a:rPr>
              <a:t>化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44"/>
              </a:lnSpc>
            </a:pPr>
            <a:endParaRPr lang="en-US" dirty="0" smtClean="0"/>
          </a:p>
          <a:p>
            <a:pPr marL="0" indent="388366">
              <a:lnSpc>
                <a:spcPct val="100000"/>
              </a:lnSpc>
            </a:pPr>
            <a:r>
              <a:rPr lang="zh-CN" altLang="en-US" sz="1550" spc="34" dirty="0">
                <a:solidFill>
                  <a:srgbClr val="242424"/>
                </a:solidFill>
                <a:latin typeface="PMingLiU"/>
                <a:ea typeface="PMingLiU"/>
              </a:rPr>
              <a:t>早上約</a:t>
            </a:r>
            <a:r>
              <a:rPr lang="zh-CN" altLang="en-US" sz="1550" spc="10" dirty="0">
                <a:solidFill>
                  <a:srgbClr val="242424"/>
                </a:solidFill>
                <a:latin typeface="PMingLiU"/>
                <a:cs typeface="PMingLiU"/>
              </a:rPr>
              <a:t> </a:t>
            </a:r>
            <a:r>
              <a:rPr lang="en-US" altLang="zh-CN" sz="1550" spc="20" dirty="0">
                <a:solidFill>
                  <a:srgbClr val="242424"/>
                </a:solidFill>
                <a:latin typeface="Times New Roman"/>
                <a:ea typeface="Times New Roman"/>
              </a:rPr>
              <a:t>8</a:t>
            </a:r>
            <a:r>
              <a:rPr lang="en-US" altLang="zh-CN" sz="1550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550" spc="34" dirty="0">
                <a:solidFill>
                  <a:srgbClr val="242424"/>
                </a:solidFill>
                <a:latin typeface="PMingLiU"/>
                <a:ea typeface="PMingLiU"/>
              </a:rPr>
              <a:t>點出現第一波高峰</a:t>
            </a:r>
          </a:p>
          <a:p>
            <a:pPr marL="0" indent="334391">
              <a:lnSpc>
                <a:spcPct val="100000"/>
              </a:lnSpc>
            </a:pPr>
            <a:r>
              <a:rPr lang="zh-CN" altLang="en-US" sz="1550" spc="40" dirty="0">
                <a:solidFill>
                  <a:srgbClr val="242424"/>
                </a:solidFill>
                <a:latin typeface="PMingLiU"/>
                <a:ea typeface="PMingLiU"/>
              </a:rPr>
              <a:t>傍晚約</a:t>
            </a:r>
            <a:r>
              <a:rPr lang="zh-CN" altLang="en-US" sz="1550" spc="10" dirty="0">
                <a:solidFill>
                  <a:srgbClr val="242424"/>
                </a:solidFill>
                <a:latin typeface="PMingLiU"/>
                <a:cs typeface="PMingLiU"/>
              </a:rPr>
              <a:t> </a:t>
            </a:r>
            <a:r>
              <a:rPr lang="en-US" altLang="zh-CN" sz="1550" spc="20" dirty="0">
                <a:solidFill>
                  <a:srgbClr val="242424"/>
                </a:solidFill>
                <a:latin typeface="Times New Roman"/>
                <a:ea typeface="Times New Roman"/>
              </a:rPr>
              <a:t>18</a:t>
            </a:r>
            <a:r>
              <a:rPr lang="en-US" altLang="zh-CN" sz="1550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550" spc="40" dirty="0">
                <a:solidFill>
                  <a:srgbClr val="242424"/>
                </a:solidFill>
                <a:latin typeface="PMingLiU"/>
                <a:ea typeface="PMingLiU"/>
              </a:rPr>
              <a:t>點達到另一波高峰</a:t>
            </a:r>
          </a:p>
          <a:p>
            <a:pPr marL="0" indent="280416">
              <a:lnSpc>
                <a:spcPct val="93750"/>
              </a:lnSpc>
            </a:pPr>
            <a:r>
              <a:rPr lang="zh-CN" altLang="en-US" sz="1550" spc="50" dirty="0">
                <a:solidFill>
                  <a:srgbClr val="242424"/>
                </a:solidFill>
                <a:latin typeface="PMingLiU"/>
                <a:ea typeface="PMingLiU"/>
              </a:rPr>
              <a:t>符合上班、上</a:t>
            </a:r>
            <a:r>
              <a:rPr lang="zh-CN" altLang="en-US" sz="1550" spc="44" dirty="0">
                <a:solidFill>
                  <a:srgbClr val="242424"/>
                </a:solidFill>
                <a:latin typeface="PMingLiU"/>
                <a:ea typeface="PMingLiU"/>
              </a:rPr>
              <a:t>課與返家通勤特</a:t>
            </a:r>
          </a:p>
          <a:p>
            <a:pPr marL="0" indent="1500504">
              <a:lnSpc>
                <a:spcPct val="100000"/>
              </a:lnSpc>
            </a:pPr>
            <a:r>
              <a:rPr lang="zh-CN" altLang="en-US" sz="1550" spc="15" dirty="0">
                <a:solidFill>
                  <a:srgbClr val="242424"/>
                </a:solidFill>
                <a:latin typeface="PMingLiU"/>
                <a:ea typeface="PMingLiU"/>
              </a:rPr>
              <a:t>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53"/>
          <p:cNvSpPr txBox="1"/>
          <p:nvPr/>
        </p:nvSpPr>
        <p:spPr>
          <a:xfrm>
            <a:off x="853757" y="535979"/>
            <a:ext cx="4366247" cy="4550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950" spc="50" dirty="0">
                <a:solidFill>
                  <a:srgbClr val="000000"/>
                </a:solidFill>
                <a:latin typeface="Microsoft JhengHei"/>
                <a:ea typeface="Microsoft JhengHei"/>
              </a:rPr>
              <a:t>平日與</a:t>
            </a:r>
            <a:r>
              <a:rPr lang="en-US" altLang="zh-CN" sz="3950" spc="44" dirty="0">
                <a:solidFill>
                  <a:srgbClr val="000000"/>
                </a:solidFill>
                <a:latin typeface="Microsoft JhengHei"/>
                <a:ea typeface="Microsoft JhengHei"/>
              </a:rPr>
              <a:t>假日人流比</a:t>
            </a:r>
          </a:p>
          <a:p>
            <a:pPr marL="0">
              <a:lnSpc>
                <a:spcPct val="100000"/>
              </a:lnSpc>
            </a:pPr>
            <a:r>
              <a:rPr lang="en-US" altLang="zh-CN" sz="3950" spc="15" dirty="0">
                <a:solidFill>
                  <a:srgbClr val="000000"/>
                </a:solidFill>
                <a:latin typeface="Microsoft JhengHei"/>
                <a:ea typeface="Microsoft JhengHei"/>
              </a:rPr>
              <a:t>較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3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5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Microsoft JhengHei"/>
                <a:ea typeface="Microsoft JhengHei"/>
              </a:rPr>
              <a:t>平日人流明顯高於假日</a:t>
            </a:r>
          </a:p>
          <a:p>
            <a:pPr marL="0" indent="281305">
              <a:lnSpc>
                <a:spcPct val="92083"/>
              </a:lnSpc>
            </a:pPr>
            <a:r>
              <a:rPr lang="en-US" altLang="zh-CN" sz="2000" spc="5" dirty="0">
                <a:solidFill>
                  <a:srgbClr val="000000"/>
                </a:solidFill>
                <a:latin typeface="Microsoft JhengHei"/>
                <a:ea typeface="Microsoft JhengHei"/>
              </a:rPr>
              <a:t>平日早</a:t>
            </a:r>
            <a:r>
              <a:rPr lang="en-US" altLang="zh-CN" sz="2000" dirty="0">
                <a:solidFill>
                  <a:srgbClr val="000000"/>
                </a:solidFill>
                <a:latin typeface="Microsoft JhengHei"/>
                <a:ea typeface="Microsoft JhengHei"/>
              </a:rPr>
              <a:t>晚尖峰較明顯</a:t>
            </a:r>
          </a:p>
          <a:p>
            <a:pPr marL="0" indent="281305">
              <a:lnSpc>
                <a:spcPct val="92083"/>
              </a:lnSpc>
            </a:pPr>
            <a:r>
              <a:rPr lang="en-US" altLang="zh-CN" sz="2000" spc="5" dirty="0">
                <a:solidFill>
                  <a:srgbClr val="000000"/>
                </a:solidFill>
                <a:latin typeface="Microsoft JhengHei"/>
                <a:ea typeface="Microsoft JhengHei"/>
              </a:rPr>
              <a:t>假日人流較平緩，偏向休</a:t>
            </a:r>
            <a:r>
              <a:rPr lang="en-US" altLang="zh-CN" sz="2000" dirty="0">
                <a:solidFill>
                  <a:srgbClr val="000000"/>
                </a:solidFill>
                <a:latin typeface="Microsoft JhengHei"/>
                <a:ea typeface="Microsoft JhengHei"/>
              </a:rPr>
              <a:t>閒與日常移</a:t>
            </a:r>
          </a:p>
          <a:p>
            <a:pPr marL="0" indent="228917">
              <a:lnSpc>
                <a:spcPct val="100000"/>
              </a:lnSpc>
            </a:pPr>
            <a:r>
              <a:rPr lang="en-US" altLang="zh-CN" sz="2000" spc="15" dirty="0">
                <a:solidFill>
                  <a:srgbClr val="000000"/>
                </a:solidFill>
                <a:latin typeface="Microsoft JhengHei"/>
                <a:ea typeface="Microsoft JhengHei"/>
              </a:rPr>
              <a:t>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4"/>
          <p:cNvSpPr/>
          <p:nvPr/>
        </p:nvSpPr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6857999 h 6857999"/>
              <a:gd name="connsiteX1" fmla="*/ 12192000 w 12192000"/>
              <a:gd name="connsiteY1" fmla="*/ 6857999 h 6857999"/>
              <a:gd name="connsiteX2" fmla="*/ 12192000 w 12192000"/>
              <a:gd name="connsiteY2" fmla="*/ 0 h 6857999"/>
              <a:gd name="connsiteX3" fmla="*/ 0 w 12192000"/>
              <a:gd name="connsiteY3" fmla="*/ 0 h 6857999"/>
              <a:gd name="connsiteX4" fmla="*/ 0 w 12192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7999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sp>
        <p:nvSpPr>
          <p:cNvPr id="2" name="TextBox 56"/>
          <p:cNvSpPr txBox="1"/>
          <p:nvPr/>
        </p:nvSpPr>
        <p:spPr>
          <a:xfrm>
            <a:off x="930275" y="1872788"/>
            <a:ext cx="4137330" cy="39982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7200" spc="10" dirty="0">
                <a:solidFill>
                  <a:srgbClr val="FEFEFE"/>
                </a:solidFill>
                <a:latin typeface="PMingLiU"/>
                <a:ea typeface="PMingLiU"/>
              </a:rPr>
              <a:t>代表</a:t>
            </a:r>
            <a:r>
              <a:rPr lang="zh-CN" altLang="en-US" sz="7200" dirty="0">
                <a:solidFill>
                  <a:srgbClr val="FEFEFE"/>
                </a:solidFill>
                <a:latin typeface="PMingLiU"/>
                <a:ea typeface="PMingLiU"/>
              </a:rPr>
              <a:t>性車</a:t>
            </a:r>
          </a:p>
          <a:p>
            <a:pPr marL="0">
              <a:lnSpc>
                <a:spcPct val="100000"/>
              </a:lnSpc>
            </a:pPr>
            <a:r>
              <a:rPr lang="zh-CN" altLang="en-US" sz="7200" dirty="0">
                <a:solidFill>
                  <a:srgbClr val="FEFEFE"/>
                </a:solidFill>
                <a:latin typeface="PMingLiU"/>
                <a:ea typeface="PMingLiU"/>
              </a:rPr>
              <a:t>站比較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89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亞東醫院站：早上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cs typeface="PMingLiU"/>
              </a:rPr>
              <a:t> </a:t>
            </a:r>
            <a:r>
              <a:rPr lang="en-US" altLang="zh-CN" sz="2000" dirty="0">
                <a:solidFill>
                  <a:srgbClr val="FEFEFE"/>
                </a:solidFill>
                <a:latin typeface="Times New Roman"/>
                <a:ea typeface="Times New Roman"/>
              </a:rPr>
              <a:t>8</a:t>
            </a:r>
            <a:r>
              <a:rPr lang="en-US" altLang="zh-CN" sz="2000" spc="-14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點較明顯，偏通</a:t>
            </a:r>
            <a:r>
              <a:rPr lang="zh-CN" altLang="en-US" sz="2000" spc="20" dirty="0">
                <a:solidFill>
                  <a:srgbClr val="FEFEFE"/>
                </a:solidFill>
                <a:latin typeface="PMingLiU"/>
                <a:ea typeface="PMingLiU"/>
              </a:rPr>
              <a:t>勤型</a:t>
            </a:r>
          </a:p>
          <a:p>
            <a:pPr marL="0" indent="52387">
              <a:lnSpc>
                <a:spcPct val="93750"/>
              </a:lnSpc>
            </a:pPr>
            <a:r>
              <a:rPr lang="zh-CN" altLang="en-US" sz="2000" spc="5" dirty="0">
                <a:solidFill>
                  <a:srgbClr val="FEFEFE"/>
                </a:solidFill>
                <a:latin typeface="PMingLiU"/>
                <a:ea typeface="PMingLiU"/>
              </a:rPr>
              <a:t>中山站：中午後到晚上較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高，偏商圈</a:t>
            </a:r>
          </a:p>
          <a:p>
            <a:pPr marL="0">
              <a:lnSpc>
                <a:spcPct val="90833"/>
              </a:lnSpc>
            </a:pPr>
            <a:r>
              <a:rPr lang="zh-CN" altLang="en-US" sz="2000" spc="15" dirty="0">
                <a:solidFill>
                  <a:srgbClr val="FEFEFE"/>
                </a:solidFill>
                <a:latin typeface="PMingLiU"/>
                <a:ea typeface="PMingLiU"/>
              </a:rPr>
              <a:t>型</a:t>
            </a:r>
          </a:p>
          <a:p>
            <a:pPr marL="0" indent="52387">
              <a:lnSpc>
                <a:spcPct val="100000"/>
              </a:lnSpc>
            </a:pPr>
            <a:r>
              <a:rPr lang="zh-CN" altLang="en-US" sz="2000" spc="5" dirty="0">
                <a:solidFill>
                  <a:srgbClr val="FEFEFE"/>
                </a:solidFill>
                <a:latin typeface="PMingLiU"/>
                <a:ea typeface="PMingLiU"/>
              </a:rPr>
              <a:t>車站周邊環境會影響人</a:t>
            </a:r>
            <a:r>
              <a:rPr lang="zh-CN" altLang="en-US" sz="2000" dirty="0">
                <a:solidFill>
                  <a:srgbClr val="FEFEFE"/>
                </a:solidFill>
                <a:latin typeface="PMingLiU"/>
                <a:ea typeface="PMingLiU"/>
              </a:rPr>
              <a:t>流型態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7"/>
          <p:cNvSpPr/>
          <p:nvPr/>
        </p:nvSpPr>
        <p:spPr>
          <a:xfrm>
            <a:off x="-6350" y="-6350"/>
            <a:ext cx="5797550" cy="6851650"/>
          </a:xfrm>
          <a:custGeom>
            <a:avLst/>
            <a:gdLst>
              <a:gd name="connsiteX0" fmla="*/ 6350 w 5797550"/>
              <a:gd name="connsiteY0" fmla="*/ 6350 h 6851650"/>
              <a:gd name="connsiteX1" fmla="*/ 5026659 w 5797550"/>
              <a:gd name="connsiteY1" fmla="*/ 6350 h 6851650"/>
              <a:gd name="connsiteX2" fmla="*/ 5026533 w 5797550"/>
              <a:gd name="connsiteY2" fmla="*/ 55499 h 6851650"/>
              <a:gd name="connsiteX3" fmla="*/ 5003672 w 5797550"/>
              <a:gd name="connsiteY3" fmla="*/ 207264 h 6851650"/>
              <a:gd name="connsiteX4" fmla="*/ 4996179 w 5797550"/>
              <a:gd name="connsiteY4" fmla="*/ 420370 h 6851650"/>
              <a:gd name="connsiteX5" fmla="*/ 4979161 w 5797550"/>
              <a:gd name="connsiteY5" fmla="*/ 591820 h 6851650"/>
              <a:gd name="connsiteX6" fmla="*/ 4939791 w 5797550"/>
              <a:gd name="connsiteY6" fmla="*/ 806958 h 6851650"/>
              <a:gd name="connsiteX7" fmla="*/ 4946269 w 5797550"/>
              <a:gd name="connsiteY7" fmla="*/ 885190 h 6851650"/>
              <a:gd name="connsiteX8" fmla="*/ 4923535 w 5797550"/>
              <a:gd name="connsiteY8" fmla="*/ 950214 h 6851650"/>
              <a:gd name="connsiteX9" fmla="*/ 4932426 w 5797550"/>
              <a:gd name="connsiteY9" fmla="*/ 979678 h 6851650"/>
              <a:gd name="connsiteX10" fmla="*/ 4934330 w 5797550"/>
              <a:gd name="connsiteY10" fmla="*/ 984758 h 6851650"/>
              <a:gd name="connsiteX11" fmla="*/ 4934965 w 5797550"/>
              <a:gd name="connsiteY11" fmla="*/ 1004443 h 6851650"/>
              <a:gd name="connsiteX12" fmla="*/ 4943602 w 5797550"/>
              <a:gd name="connsiteY12" fmla="*/ 1011047 h 6851650"/>
              <a:gd name="connsiteX13" fmla="*/ 4949444 w 5797550"/>
              <a:gd name="connsiteY13" fmla="*/ 1077087 h 6851650"/>
              <a:gd name="connsiteX14" fmla="*/ 4934330 w 5797550"/>
              <a:gd name="connsiteY14" fmla="*/ 1245362 h 6851650"/>
              <a:gd name="connsiteX15" fmla="*/ 4937886 w 5797550"/>
              <a:gd name="connsiteY15" fmla="*/ 1386840 h 6851650"/>
              <a:gd name="connsiteX16" fmla="*/ 4942078 w 5797550"/>
              <a:gd name="connsiteY16" fmla="*/ 1441577 h 6851650"/>
              <a:gd name="connsiteX17" fmla="*/ 4936744 w 5797550"/>
              <a:gd name="connsiteY17" fmla="*/ 1460246 h 6851650"/>
              <a:gd name="connsiteX18" fmla="*/ 4943602 w 5797550"/>
              <a:gd name="connsiteY18" fmla="*/ 1473454 h 6851650"/>
              <a:gd name="connsiteX19" fmla="*/ 4951476 w 5797550"/>
              <a:gd name="connsiteY19" fmla="*/ 1508633 h 6851650"/>
              <a:gd name="connsiteX20" fmla="*/ 4980051 w 5797550"/>
              <a:gd name="connsiteY20" fmla="*/ 1571498 h 6851650"/>
              <a:gd name="connsiteX21" fmla="*/ 4993640 w 5797550"/>
              <a:gd name="connsiteY21" fmla="*/ 1608328 h 6851650"/>
              <a:gd name="connsiteX22" fmla="*/ 5006213 w 5797550"/>
              <a:gd name="connsiteY22" fmla="*/ 1633347 h 6851650"/>
              <a:gd name="connsiteX23" fmla="*/ 5023484 w 5797550"/>
              <a:gd name="connsiteY23" fmla="*/ 1706245 h 6851650"/>
              <a:gd name="connsiteX24" fmla="*/ 5046090 w 5797550"/>
              <a:gd name="connsiteY24" fmla="*/ 1830959 h 6851650"/>
              <a:gd name="connsiteX25" fmla="*/ 5052314 w 5797550"/>
              <a:gd name="connsiteY25" fmla="*/ 1856613 h 6851650"/>
              <a:gd name="connsiteX26" fmla="*/ 5070094 w 5797550"/>
              <a:gd name="connsiteY26" fmla="*/ 1875917 h 6851650"/>
              <a:gd name="connsiteX27" fmla="*/ 5074411 w 5797550"/>
              <a:gd name="connsiteY27" fmla="*/ 1889506 h 6851650"/>
              <a:gd name="connsiteX28" fmla="*/ 5076571 w 5797550"/>
              <a:gd name="connsiteY28" fmla="*/ 1892300 h 6851650"/>
              <a:gd name="connsiteX29" fmla="*/ 5077459 w 5797550"/>
              <a:gd name="connsiteY29" fmla="*/ 1893443 h 6851650"/>
              <a:gd name="connsiteX30" fmla="*/ 5084064 w 5797550"/>
              <a:gd name="connsiteY30" fmla="*/ 1908683 h 6851650"/>
              <a:gd name="connsiteX31" fmla="*/ 5075935 w 5797550"/>
              <a:gd name="connsiteY31" fmla="*/ 1936242 h 6851650"/>
              <a:gd name="connsiteX32" fmla="*/ 5084190 w 5797550"/>
              <a:gd name="connsiteY32" fmla="*/ 1989074 h 6851650"/>
              <a:gd name="connsiteX33" fmla="*/ 5088128 w 5797550"/>
              <a:gd name="connsiteY33" fmla="*/ 2019300 h 6851650"/>
              <a:gd name="connsiteX34" fmla="*/ 5101082 w 5797550"/>
              <a:gd name="connsiteY34" fmla="*/ 2076196 h 6851650"/>
              <a:gd name="connsiteX35" fmla="*/ 5105527 w 5797550"/>
              <a:gd name="connsiteY35" fmla="*/ 2110105 h 6851650"/>
              <a:gd name="connsiteX36" fmla="*/ 5108066 w 5797550"/>
              <a:gd name="connsiteY36" fmla="*/ 2130425 h 6851650"/>
              <a:gd name="connsiteX37" fmla="*/ 5122671 w 5797550"/>
              <a:gd name="connsiteY37" fmla="*/ 2182495 h 6851650"/>
              <a:gd name="connsiteX38" fmla="*/ 5166614 w 5797550"/>
              <a:gd name="connsiteY38" fmla="*/ 2264410 h 6851650"/>
              <a:gd name="connsiteX39" fmla="*/ 5174360 w 5797550"/>
              <a:gd name="connsiteY39" fmla="*/ 2290953 h 6851650"/>
              <a:gd name="connsiteX40" fmla="*/ 5172836 w 5797550"/>
              <a:gd name="connsiteY40" fmla="*/ 2295906 h 6851650"/>
              <a:gd name="connsiteX41" fmla="*/ 5185409 w 5797550"/>
              <a:gd name="connsiteY41" fmla="*/ 2315083 h 6851650"/>
              <a:gd name="connsiteX42" fmla="*/ 5193157 w 5797550"/>
              <a:gd name="connsiteY42" fmla="*/ 2327021 h 6851650"/>
              <a:gd name="connsiteX43" fmla="*/ 5194553 w 5797550"/>
              <a:gd name="connsiteY43" fmla="*/ 2334260 h 6851650"/>
              <a:gd name="connsiteX44" fmla="*/ 5197983 w 5797550"/>
              <a:gd name="connsiteY44" fmla="*/ 2364105 h 6851650"/>
              <a:gd name="connsiteX45" fmla="*/ 5200015 w 5797550"/>
              <a:gd name="connsiteY45" fmla="*/ 2371217 h 6851650"/>
              <a:gd name="connsiteX46" fmla="*/ 5203063 w 5797550"/>
              <a:gd name="connsiteY46" fmla="*/ 2394712 h 6851650"/>
              <a:gd name="connsiteX47" fmla="*/ 5202173 w 5797550"/>
              <a:gd name="connsiteY47" fmla="*/ 2408682 h 6851650"/>
              <a:gd name="connsiteX48" fmla="*/ 5207127 w 5797550"/>
              <a:gd name="connsiteY48" fmla="*/ 2426335 h 6851650"/>
              <a:gd name="connsiteX49" fmla="*/ 5207380 w 5797550"/>
              <a:gd name="connsiteY49" fmla="*/ 2429129 h 6851650"/>
              <a:gd name="connsiteX50" fmla="*/ 5205729 w 5797550"/>
              <a:gd name="connsiteY50" fmla="*/ 2432304 h 6851650"/>
              <a:gd name="connsiteX51" fmla="*/ 5208270 w 5797550"/>
              <a:gd name="connsiteY51" fmla="*/ 2438273 h 6851650"/>
              <a:gd name="connsiteX52" fmla="*/ 5208778 w 5797550"/>
              <a:gd name="connsiteY52" fmla="*/ 2440305 h 6851650"/>
              <a:gd name="connsiteX53" fmla="*/ 5210809 w 5797550"/>
              <a:gd name="connsiteY53" fmla="*/ 2457704 h 6851650"/>
              <a:gd name="connsiteX54" fmla="*/ 5210302 w 5797550"/>
              <a:gd name="connsiteY54" fmla="*/ 2461895 h 6851650"/>
              <a:gd name="connsiteX55" fmla="*/ 5212079 w 5797550"/>
              <a:gd name="connsiteY55" fmla="*/ 2469388 h 6851650"/>
              <a:gd name="connsiteX56" fmla="*/ 5216905 w 5797550"/>
              <a:gd name="connsiteY56" fmla="*/ 2510282 h 6851650"/>
              <a:gd name="connsiteX57" fmla="*/ 5232653 w 5797550"/>
              <a:gd name="connsiteY57" fmla="*/ 2659253 h 6851650"/>
              <a:gd name="connsiteX58" fmla="*/ 5226558 w 5797550"/>
              <a:gd name="connsiteY58" fmla="*/ 2676525 h 6851650"/>
              <a:gd name="connsiteX59" fmla="*/ 5225288 w 5797550"/>
              <a:gd name="connsiteY59" fmla="*/ 2694432 h 6851650"/>
              <a:gd name="connsiteX60" fmla="*/ 5226684 w 5797550"/>
              <a:gd name="connsiteY60" fmla="*/ 2696210 h 6851650"/>
              <a:gd name="connsiteX61" fmla="*/ 5229859 w 5797550"/>
              <a:gd name="connsiteY61" fmla="*/ 2715641 h 6851650"/>
              <a:gd name="connsiteX62" fmla="*/ 5227320 w 5797550"/>
              <a:gd name="connsiteY62" fmla="*/ 2720848 h 6851650"/>
              <a:gd name="connsiteX63" fmla="*/ 5228463 w 5797550"/>
              <a:gd name="connsiteY63" fmla="*/ 2734564 h 6851650"/>
              <a:gd name="connsiteX64" fmla="*/ 5228082 w 5797550"/>
              <a:gd name="connsiteY64" fmla="*/ 2762250 h 6851650"/>
              <a:gd name="connsiteX65" fmla="*/ 5230495 w 5797550"/>
              <a:gd name="connsiteY65" fmla="*/ 2766695 h 6851650"/>
              <a:gd name="connsiteX66" fmla="*/ 5233796 w 5797550"/>
              <a:gd name="connsiteY66" fmla="*/ 2807335 h 6851650"/>
              <a:gd name="connsiteX67" fmla="*/ 5235066 w 5797550"/>
              <a:gd name="connsiteY67" fmla="*/ 2807462 h 6851650"/>
              <a:gd name="connsiteX68" fmla="*/ 5241290 w 5797550"/>
              <a:gd name="connsiteY68" fmla="*/ 2817495 h 6851650"/>
              <a:gd name="connsiteX69" fmla="*/ 5250434 w 5797550"/>
              <a:gd name="connsiteY69" fmla="*/ 2837307 h 6851650"/>
              <a:gd name="connsiteX70" fmla="*/ 5286375 w 5797550"/>
              <a:gd name="connsiteY70" fmla="*/ 2878836 h 6851650"/>
              <a:gd name="connsiteX71" fmla="*/ 5291328 w 5797550"/>
              <a:gd name="connsiteY71" fmla="*/ 2929509 h 6851650"/>
              <a:gd name="connsiteX72" fmla="*/ 5291709 w 5797550"/>
              <a:gd name="connsiteY72" fmla="*/ 2929509 h 6851650"/>
              <a:gd name="connsiteX73" fmla="*/ 5293614 w 5797550"/>
              <a:gd name="connsiteY73" fmla="*/ 2938272 h 6851650"/>
              <a:gd name="connsiteX74" fmla="*/ 5293867 w 5797550"/>
              <a:gd name="connsiteY74" fmla="*/ 2944622 h 6851650"/>
              <a:gd name="connsiteX75" fmla="*/ 5296534 w 5797550"/>
              <a:gd name="connsiteY75" fmla="*/ 2960878 h 6851650"/>
              <a:gd name="connsiteX76" fmla="*/ 5299328 w 5797550"/>
              <a:gd name="connsiteY76" fmla="*/ 2965958 h 6851650"/>
              <a:gd name="connsiteX77" fmla="*/ 5303011 w 5797550"/>
              <a:gd name="connsiteY77" fmla="*/ 2967355 h 6851650"/>
              <a:gd name="connsiteX78" fmla="*/ 5302884 w 5797550"/>
              <a:gd name="connsiteY78" fmla="*/ 2968879 h 6851650"/>
              <a:gd name="connsiteX79" fmla="*/ 5317109 w 5797550"/>
              <a:gd name="connsiteY79" fmla="*/ 2996946 h 6851650"/>
              <a:gd name="connsiteX80" fmla="*/ 5338698 w 5797550"/>
              <a:gd name="connsiteY80" fmla="*/ 3062351 h 6851650"/>
              <a:gd name="connsiteX81" fmla="*/ 5346827 w 5797550"/>
              <a:gd name="connsiteY81" fmla="*/ 3100832 h 6851650"/>
              <a:gd name="connsiteX82" fmla="*/ 5373751 w 5797550"/>
              <a:gd name="connsiteY82" fmla="*/ 3205226 h 6851650"/>
              <a:gd name="connsiteX83" fmla="*/ 5401055 w 5797550"/>
              <a:gd name="connsiteY83" fmla="*/ 3313938 h 6851650"/>
              <a:gd name="connsiteX84" fmla="*/ 5416550 w 5797550"/>
              <a:gd name="connsiteY84" fmla="*/ 3380232 h 6851650"/>
              <a:gd name="connsiteX85" fmla="*/ 5428107 w 5797550"/>
              <a:gd name="connsiteY85" fmla="*/ 3387725 h 6851650"/>
              <a:gd name="connsiteX86" fmla="*/ 5433695 w 5797550"/>
              <a:gd name="connsiteY86" fmla="*/ 3390138 h 6851650"/>
              <a:gd name="connsiteX87" fmla="*/ 5438647 w 5797550"/>
              <a:gd name="connsiteY87" fmla="*/ 3420491 h 6851650"/>
              <a:gd name="connsiteX88" fmla="*/ 5436361 w 5797550"/>
              <a:gd name="connsiteY88" fmla="*/ 3443224 h 6851650"/>
              <a:gd name="connsiteX89" fmla="*/ 5451347 w 5797550"/>
              <a:gd name="connsiteY89" fmla="*/ 3527933 h 6851650"/>
              <a:gd name="connsiteX90" fmla="*/ 5457316 w 5797550"/>
              <a:gd name="connsiteY90" fmla="*/ 3610102 h 6851650"/>
              <a:gd name="connsiteX91" fmla="*/ 5458967 w 5797550"/>
              <a:gd name="connsiteY91" fmla="*/ 3658743 h 6851650"/>
              <a:gd name="connsiteX92" fmla="*/ 5450585 w 5797550"/>
              <a:gd name="connsiteY92" fmla="*/ 3671570 h 6851650"/>
              <a:gd name="connsiteX93" fmla="*/ 5460491 w 5797550"/>
              <a:gd name="connsiteY93" fmla="*/ 3707130 h 6851650"/>
              <a:gd name="connsiteX94" fmla="*/ 5461634 w 5797550"/>
              <a:gd name="connsiteY94" fmla="*/ 3741166 h 6851650"/>
              <a:gd name="connsiteX95" fmla="*/ 5462523 w 5797550"/>
              <a:gd name="connsiteY95" fmla="*/ 3791458 h 6851650"/>
              <a:gd name="connsiteX96" fmla="*/ 5462396 w 5797550"/>
              <a:gd name="connsiteY96" fmla="*/ 3794506 h 6851650"/>
              <a:gd name="connsiteX97" fmla="*/ 5462778 w 5797550"/>
              <a:gd name="connsiteY97" fmla="*/ 3805174 h 6851650"/>
              <a:gd name="connsiteX98" fmla="*/ 5463540 w 5797550"/>
              <a:gd name="connsiteY98" fmla="*/ 3845052 h 6851650"/>
              <a:gd name="connsiteX99" fmla="*/ 5442584 w 5797550"/>
              <a:gd name="connsiteY99" fmla="*/ 4021582 h 6851650"/>
              <a:gd name="connsiteX100" fmla="*/ 5464175 w 5797550"/>
              <a:gd name="connsiteY100" fmla="*/ 4059174 h 6851650"/>
              <a:gd name="connsiteX101" fmla="*/ 5463794 w 5797550"/>
              <a:gd name="connsiteY101" fmla="*/ 4102608 h 6851650"/>
              <a:gd name="connsiteX102" fmla="*/ 5462396 w 5797550"/>
              <a:gd name="connsiteY102" fmla="*/ 4327525 h 6851650"/>
              <a:gd name="connsiteX103" fmla="*/ 5459984 w 5797550"/>
              <a:gd name="connsiteY103" fmla="*/ 4435475 h 6851650"/>
              <a:gd name="connsiteX104" fmla="*/ 5468620 w 5797550"/>
              <a:gd name="connsiteY104" fmla="*/ 4456303 h 6851650"/>
              <a:gd name="connsiteX105" fmla="*/ 5470397 w 5797550"/>
              <a:gd name="connsiteY105" fmla="*/ 4459859 h 6851650"/>
              <a:gd name="connsiteX106" fmla="*/ 5472176 w 5797550"/>
              <a:gd name="connsiteY106" fmla="*/ 4474337 h 6851650"/>
              <a:gd name="connsiteX107" fmla="*/ 5479034 w 5797550"/>
              <a:gd name="connsiteY107" fmla="*/ 4478274 h 6851650"/>
              <a:gd name="connsiteX108" fmla="*/ 5486400 w 5797550"/>
              <a:gd name="connsiteY108" fmla="*/ 4499864 h 6851650"/>
              <a:gd name="connsiteX109" fmla="*/ 5487923 w 5797550"/>
              <a:gd name="connsiteY109" fmla="*/ 4526407 h 6851650"/>
              <a:gd name="connsiteX110" fmla="*/ 5488178 w 5797550"/>
              <a:gd name="connsiteY110" fmla="*/ 4543171 h 6851650"/>
              <a:gd name="connsiteX111" fmla="*/ 5487289 w 5797550"/>
              <a:gd name="connsiteY111" fmla="*/ 4544695 h 6851650"/>
              <a:gd name="connsiteX112" fmla="*/ 5485891 w 5797550"/>
              <a:gd name="connsiteY112" fmla="*/ 4553966 h 6851650"/>
              <a:gd name="connsiteX113" fmla="*/ 5480303 w 5797550"/>
              <a:gd name="connsiteY113" fmla="*/ 4598416 h 6851650"/>
              <a:gd name="connsiteX114" fmla="*/ 5474589 w 5797550"/>
              <a:gd name="connsiteY114" fmla="*/ 4674235 h 6851650"/>
              <a:gd name="connsiteX115" fmla="*/ 5467603 w 5797550"/>
              <a:gd name="connsiteY115" fmla="*/ 4701413 h 6851650"/>
              <a:gd name="connsiteX116" fmla="*/ 5463666 w 5797550"/>
              <a:gd name="connsiteY116" fmla="*/ 4702302 h 6851650"/>
              <a:gd name="connsiteX117" fmla="*/ 5462015 w 5797550"/>
              <a:gd name="connsiteY117" fmla="*/ 4710557 h 6851650"/>
              <a:gd name="connsiteX118" fmla="*/ 5461000 w 5797550"/>
              <a:gd name="connsiteY118" fmla="*/ 4712462 h 6851650"/>
              <a:gd name="connsiteX119" fmla="*/ 5455284 w 5797550"/>
              <a:gd name="connsiteY119" fmla="*/ 4723130 h 6851650"/>
              <a:gd name="connsiteX120" fmla="*/ 5458967 w 5797550"/>
              <a:gd name="connsiteY120" fmla="*/ 4771009 h 6851650"/>
              <a:gd name="connsiteX121" fmla="*/ 5463032 w 5797550"/>
              <a:gd name="connsiteY121" fmla="*/ 4785741 h 6851650"/>
              <a:gd name="connsiteX122" fmla="*/ 5468111 w 5797550"/>
              <a:gd name="connsiteY122" fmla="*/ 4793869 h 6851650"/>
              <a:gd name="connsiteX123" fmla="*/ 5484240 w 5797550"/>
              <a:gd name="connsiteY123" fmla="*/ 4849876 h 6851650"/>
              <a:gd name="connsiteX124" fmla="*/ 5497576 w 5797550"/>
              <a:gd name="connsiteY124" fmla="*/ 4887849 h 6851650"/>
              <a:gd name="connsiteX125" fmla="*/ 5502528 w 5797550"/>
              <a:gd name="connsiteY125" fmla="*/ 4895723 h 6851650"/>
              <a:gd name="connsiteX126" fmla="*/ 5501513 w 5797550"/>
              <a:gd name="connsiteY126" fmla="*/ 4905756 h 6851650"/>
              <a:gd name="connsiteX127" fmla="*/ 5499100 w 5797550"/>
              <a:gd name="connsiteY127" fmla="*/ 4909058 h 6851650"/>
              <a:gd name="connsiteX128" fmla="*/ 5510529 w 5797550"/>
              <a:gd name="connsiteY128" fmla="*/ 4939157 h 6851650"/>
              <a:gd name="connsiteX129" fmla="*/ 5511419 w 5797550"/>
              <a:gd name="connsiteY129" fmla="*/ 4942840 h 6851650"/>
              <a:gd name="connsiteX130" fmla="*/ 5515483 w 5797550"/>
              <a:gd name="connsiteY130" fmla="*/ 4968621 h 6851650"/>
              <a:gd name="connsiteX131" fmla="*/ 5516371 w 5797550"/>
              <a:gd name="connsiteY131" fmla="*/ 5048504 h 6851650"/>
              <a:gd name="connsiteX132" fmla="*/ 5516753 w 5797550"/>
              <a:gd name="connsiteY132" fmla="*/ 5071999 h 6851650"/>
              <a:gd name="connsiteX133" fmla="*/ 5515228 w 5797550"/>
              <a:gd name="connsiteY133" fmla="*/ 5088509 h 6851650"/>
              <a:gd name="connsiteX134" fmla="*/ 5521071 w 5797550"/>
              <a:gd name="connsiteY134" fmla="*/ 5133467 h 6851650"/>
              <a:gd name="connsiteX135" fmla="*/ 5534659 w 5797550"/>
              <a:gd name="connsiteY135" fmla="*/ 5209032 h 6851650"/>
              <a:gd name="connsiteX136" fmla="*/ 5534786 w 5797550"/>
              <a:gd name="connsiteY136" fmla="*/ 5237226 h 6851650"/>
              <a:gd name="connsiteX137" fmla="*/ 5531230 w 5797550"/>
              <a:gd name="connsiteY137" fmla="*/ 5239004 h 6851650"/>
              <a:gd name="connsiteX138" fmla="*/ 5531739 w 5797550"/>
              <a:gd name="connsiteY138" fmla="*/ 5247513 h 6851650"/>
              <a:gd name="connsiteX139" fmla="*/ 5531230 w 5797550"/>
              <a:gd name="connsiteY139" fmla="*/ 5249545 h 6851650"/>
              <a:gd name="connsiteX140" fmla="*/ 5528436 w 5797550"/>
              <a:gd name="connsiteY140" fmla="*/ 5261229 h 6851650"/>
              <a:gd name="connsiteX141" fmla="*/ 5541136 w 5797550"/>
              <a:gd name="connsiteY141" fmla="*/ 5292598 h 6851650"/>
              <a:gd name="connsiteX142" fmla="*/ 5551423 w 5797550"/>
              <a:gd name="connsiteY142" fmla="*/ 5364099 h 6851650"/>
              <a:gd name="connsiteX143" fmla="*/ 5561965 w 5797550"/>
              <a:gd name="connsiteY143" fmla="*/ 5466461 h 6851650"/>
              <a:gd name="connsiteX144" fmla="*/ 5574538 w 5797550"/>
              <a:gd name="connsiteY144" fmla="*/ 5546090 h 6851650"/>
              <a:gd name="connsiteX145" fmla="*/ 5600446 w 5797550"/>
              <a:gd name="connsiteY145" fmla="*/ 5645429 h 6851650"/>
              <a:gd name="connsiteX146" fmla="*/ 5605779 w 5797550"/>
              <a:gd name="connsiteY146" fmla="*/ 5717311 h 6851650"/>
              <a:gd name="connsiteX147" fmla="*/ 5612510 w 5797550"/>
              <a:gd name="connsiteY147" fmla="*/ 5726214 h 6851650"/>
              <a:gd name="connsiteX148" fmla="*/ 5616828 w 5797550"/>
              <a:gd name="connsiteY148" fmla="*/ 5736285 h 6851650"/>
              <a:gd name="connsiteX149" fmla="*/ 5616447 w 5797550"/>
              <a:gd name="connsiteY149" fmla="*/ 5737530 h 6851650"/>
              <a:gd name="connsiteX150" fmla="*/ 5623305 w 5797550"/>
              <a:gd name="connsiteY150" fmla="*/ 5759882 h 6851650"/>
              <a:gd name="connsiteX151" fmla="*/ 5635371 w 5797550"/>
              <a:gd name="connsiteY151" fmla="*/ 5802655 h 6851650"/>
              <a:gd name="connsiteX152" fmla="*/ 5634735 w 5797550"/>
              <a:gd name="connsiteY152" fmla="*/ 5802998 h 6851650"/>
              <a:gd name="connsiteX153" fmla="*/ 5633592 w 5797550"/>
              <a:gd name="connsiteY153" fmla="*/ 5809780 h 6851650"/>
              <a:gd name="connsiteX154" fmla="*/ 5632830 w 5797550"/>
              <a:gd name="connsiteY154" fmla="*/ 5822746 h 6851650"/>
              <a:gd name="connsiteX155" fmla="*/ 5622416 w 5797550"/>
              <a:gd name="connsiteY155" fmla="*/ 5852731 h 6851650"/>
              <a:gd name="connsiteX156" fmla="*/ 5629147 w 5797550"/>
              <a:gd name="connsiteY156" fmla="*/ 5877687 h 6851650"/>
              <a:gd name="connsiteX157" fmla="*/ 5630164 w 5797550"/>
              <a:gd name="connsiteY157" fmla="*/ 5882729 h 6851650"/>
              <a:gd name="connsiteX158" fmla="*/ 5630036 w 5797550"/>
              <a:gd name="connsiteY158" fmla="*/ 5882830 h 6851650"/>
              <a:gd name="connsiteX159" fmla="*/ 5630798 w 5797550"/>
              <a:gd name="connsiteY159" fmla="*/ 5888164 h 6851650"/>
              <a:gd name="connsiteX160" fmla="*/ 5633846 w 5797550"/>
              <a:gd name="connsiteY160" fmla="*/ 5901690 h 6851650"/>
              <a:gd name="connsiteX161" fmla="*/ 5633465 w 5797550"/>
              <a:gd name="connsiteY161" fmla="*/ 5905093 h 6851650"/>
              <a:gd name="connsiteX162" fmla="*/ 5630417 w 5797550"/>
              <a:gd name="connsiteY162" fmla="*/ 5925909 h 6851650"/>
              <a:gd name="connsiteX163" fmla="*/ 5636005 w 5797550"/>
              <a:gd name="connsiteY163" fmla="*/ 5990768 h 6851650"/>
              <a:gd name="connsiteX164" fmla="*/ 5643245 w 5797550"/>
              <a:gd name="connsiteY164" fmla="*/ 6055398 h 6851650"/>
              <a:gd name="connsiteX165" fmla="*/ 5648452 w 5797550"/>
              <a:gd name="connsiteY165" fmla="*/ 6120346 h 6851650"/>
              <a:gd name="connsiteX166" fmla="*/ 5639689 w 5797550"/>
              <a:gd name="connsiteY166" fmla="*/ 6153289 h 6851650"/>
              <a:gd name="connsiteX167" fmla="*/ 5639942 w 5797550"/>
              <a:gd name="connsiteY167" fmla="*/ 6157011 h 6851650"/>
              <a:gd name="connsiteX168" fmla="*/ 5643498 w 5797550"/>
              <a:gd name="connsiteY168" fmla="*/ 6166358 h 6851650"/>
              <a:gd name="connsiteX169" fmla="*/ 5645150 w 5797550"/>
              <a:gd name="connsiteY169" fmla="*/ 6169736 h 6851650"/>
              <a:gd name="connsiteX170" fmla="*/ 5646801 w 5797550"/>
              <a:gd name="connsiteY170" fmla="*/ 6174981 h 6851650"/>
              <a:gd name="connsiteX171" fmla="*/ 5646673 w 5797550"/>
              <a:gd name="connsiteY171" fmla="*/ 6175146 h 6851650"/>
              <a:gd name="connsiteX172" fmla="*/ 5658992 w 5797550"/>
              <a:gd name="connsiteY172" fmla="*/ 6203023 h 6851650"/>
              <a:gd name="connsiteX173" fmla="*/ 5655183 w 5797550"/>
              <a:gd name="connsiteY173" fmla="*/ 6238710 h 6851650"/>
              <a:gd name="connsiteX174" fmla="*/ 5656834 w 5797550"/>
              <a:gd name="connsiteY174" fmla="*/ 6252515 h 6851650"/>
              <a:gd name="connsiteX175" fmla="*/ 5656960 w 5797550"/>
              <a:gd name="connsiteY175" fmla="*/ 6260109 h 6851650"/>
              <a:gd name="connsiteX176" fmla="*/ 5666613 w 5797550"/>
              <a:gd name="connsiteY176" fmla="*/ 6282804 h 6851650"/>
              <a:gd name="connsiteX177" fmla="*/ 5666740 w 5797550"/>
              <a:gd name="connsiteY177" fmla="*/ 6286068 h 6851650"/>
              <a:gd name="connsiteX178" fmla="*/ 5674867 w 5797550"/>
              <a:gd name="connsiteY178" fmla="*/ 6300025 h 6851650"/>
              <a:gd name="connsiteX179" fmla="*/ 5685028 w 5797550"/>
              <a:gd name="connsiteY179" fmla="*/ 6320320 h 6851650"/>
              <a:gd name="connsiteX180" fmla="*/ 5684901 w 5797550"/>
              <a:gd name="connsiteY180" fmla="*/ 6321780 h 6851650"/>
              <a:gd name="connsiteX181" fmla="*/ 5690489 w 5797550"/>
              <a:gd name="connsiteY181" fmla="*/ 6330378 h 6851650"/>
              <a:gd name="connsiteX182" fmla="*/ 5704713 w 5797550"/>
              <a:gd name="connsiteY182" fmla="*/ 6372276 h 6851650"/>
              <a:gd name="connsiteX183" fmla="*/ 5731255 w 5797550"/>
              <a:gd name="connsiteY183" fmla="*/ 6563169 h 6851650"/>
              <a:gd name="connsiteX184" fmla="*/ 5790946 w 5797550"/>
              <a:gd name="connsiteY184" fmla="*/ 6815027 h 6851650"/>
              <a:gd name="connsiteX185" fmla="*/ 5807075 w 5797550"/>
              <a:gd name="connsiteY185" fmla="*/ 6864349 h 6851650"/>
              <a:gd name="connsiteX186" fmla="*/ 6350 w 5797550"/>
              <a:gd name="connsiteY186" fmla="*/ 6864349 h 6851650"/>
              <a:gd name="connsiteX187" fmla="*/ 6350 w 5797550"/>
              <a:gd name="connsiteY187" fmla="*/ 6350 h 6851650"/>
              <a:gd name="connsiteX188" fmla="*/ 6350 w 5797550"/>
              <a:gd name="connsiteY188" fmla="*/ 6350 h 685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5797550" h="6851650">
                <a:moveTo>
                  <a:pt x="6350" y="6350"/>
                </a:moveTo>
                <a:lnTo>
                  <a:pt x="5026659" y="6350"/>
                </a:lnTo>
                <a:cubicBezTo>
                  <a:pt x="5026533" y="22732"/>
                  <a:pt x="5026533" y="39116"/>
                  <a:pt x="5026533" y="55499"/>
                </a:cubicBezTo>
                <a:cubicBezTo>
                  <a:pt x="5022977" y="61976"/>
                  <a:pt x="5009260" y="203073"/>
                  <a:pt x="5003672" y="207264"/>
                </a:cubicBezTo>
                <a:lnTo>
                  <a:pt x="4996179" y="420370"/>
                </a:lnTo>
                <a:cubicBezTo>
                  <a:pt x="4990465" y="447294"/>
                  <a:pt x="4962397" y="605028"/>
                  <a:pt x="4979161" y="591820"/>
                </a:cubicBezTo>
                <a:cubicBezTo>
                  <a:pt x="4941061" y="670433"/>
                  <a:pt x="4959603" y="714883"/>
                  <a:pt x="4939791" y="806958"/>
                </a:cubicBezTo>
                <a:cubicBezTo>
                  <a:pt x="4975225" y="863727"/>
                  <a:pt x="4941570" y="830961"/>
                  <a:pt x="4946269" y="885190"/>
                </a:cubicBezTo>
                <a:cubicBezTo>
                  <a:pt x="4912105" y="865759"/>
                  <a:pt x="4962778" y="952754"/>
                  <a:pt x="4923535" y="950214"/>
                </a:cubicBezTo>
                <a:cubicBezTo>
                  <a:pt x="4925567" y="960120"/>
                  <a:pt x="4928870" y="969899"/>
                  <a:pt x="4932426" y="979678"/>
                </a:cubicBezTo>
                <a:lnTo>
                  <a:pt x="4934330" y="984758"/>
                </a:lnTo>
                <a:lnTo>
                  <a:pt x="4934965" y="1004443"/>
                </a:lnTo>
                <a:lnTo>
                  <a:pt x="4943602" y="1011047"/>
                </a:lnTo>
                <a:lnTo>
                  <a:pt x="4949444" y="1077087"/>
                </a:lnTo>
                <a:cubicBezTo>
                  <a:pt x="4926838" y="1116838"/>
                  <a:pt x="4964303" y="1196848"/>
                  <a:pt x="4934330" y="1245362"/>
                </a:cubicBezTo>
                <a:cubicBezTo>
                  <a:pt x="4932426" y="1296924"/>
                  <a:pt x="4936616" y="1354074"/>
                  <a:pt x="4937886" y="1386840"/>
                </a:cubicBezTo>
                <a:cubicBezTo>
                  <a:pt x="4951603" y="1402715"/>
                  <a:pt x="4923916" y="1441831"/>
                  <a:pt x="4942078" y="1441577"/>
                </a:cubicBezTo>
                <a:lnTo>
                  <a:pt x="4936744" y="1460246"/>
                </a:lnTo>
                <a:lnTo>
                  <a:pt x="4943602" y="1473454"/>
                </a:lnTo>
                <a:cubicBezTo>
                  <a:pt x="4950840" y="1486916"/>
                  <a:pt x="4955666" y="1497457"/>
                  <a:pt x="4951476" y="1508633"/>
                </a:cubicBezTo>
                <a:lnTo>
                  <a:pt x="4980051" y="1571498"/>
                </a:lnTo>
                <a:cubicBezTo>
                  <a:pt x="4992370" y="1563624"/>
                  <a:pt x="4981194" y="1602867"/>
                  <a:pt x="4993640" y="1608328"/>
                </a:cubicBezTo>
                <a:cubicBezTo>
                  <a:pt x="5003672" y="1610995"/>
                  <a:pt x="5002657" y="1623568"/>
                  <a:pt x="5006213" y="1633347"/>
                </a:cubicBezTo>
                <a:cubicBezTo>
                  <a:pt x="5016372" y="1640713"/>
                  <a:pt x="5025263" y="1689481"/>
                  <a:pt x="5023484" y="1706245"/>
                </a:cubicBezTo>
                <a:cubicBezTo>
                  <a:pt x="5012690" y="1753108"/>
                  <a:pt x="5053710" y="1793494"/>
                  <a:pt x="5046090" y="1830959"/>
                </a:cubicBezTo>
                <a:cubicBezTo>
                  <a:pt x="5046979" y="1840865"/>
                  <a:pt x="5049139" y="1849247"/>
                  <a:pt x="5052314" y="1856613"/>
                </a:cubicBezTo>
                <a:lnTo>
                  <a:pt x="5070094" y="1875917"/>
                </a:lnTo>
                <a:lnTo>
                  <a:pt x="5074411" y="1889506"/>
                </a:lnTo>
                <a:lnTo>
                  <a:pt x="5076571" y="1892300"/>
                </a:lnTo>
                <a:lnTo>
                  <a:pt x="5077459" y="1893443"/>
                </a:lnTo>
                <a:lnTo>
                  <a:pt x="5084064" y="1908683"/>
                </a:lnTo>
                <a:lnTo>
                  <a:pt x="5075935" y="1936242"/>
                </a:lnTo>
                <a:lnTo>
                  <a:pt x="5084190" y="1989074"/>
                </a:lnTo>
                <a:cubicBezTo>
                  <a:pt x="5070983" y="2012569"/>
                  <a:pt x="5084190" y="2003425"/>
                  <a:pt x="5088128" y="2019300"/>
                </a:cubicBezTo>
                <a:cubicBezTo>
                  <a:pt x="5090921" y="2033905"/>
                  <a:pt x="5098288" y="2061083"/>
                  <a:pt x="5101082" y="2076196"/>
                </a:cubicBezTo>
                <a:cubicBezTo>
                  <a:pt x="5114035" y="2086610"/>
                  <a:pt x="5100320" y="2094611"/>
                  <a:pt x="5105527" y="2110105"/>
                </a:cubicBezTo>
                <a:cubicBezTo>
                  <a:pt x="5110734" y="2116963"/>
                  <a:pt x="5112003" y="2122297"/>
                  <a:pt x="5108066" y="2130425"/>
                </a:cubicBezTo>
                <a:cubicBezTo>
                  <a:pt x="5132959" y="2162048"/>
                  <a:pt x="5111115" y="2151253"/>
                  <a:pt x="5122671" y="2182495"/>
                </a:cubicBezTo>
                <a:cubicBezTo>
                  <a:pt x="5134228" y="2209292"/>
                  <a:pt x="5143119" y="2240153"/>
                  <a:pt x="5166614" y="2264410"/>
                </a:cubicBezTo>
                <a:cubicBezTo>
                  <a:pt x="5172964" y="2268601"/>
                  <a:pt x="5176392" y="2280412"/>
                  <a:pt x="5174360" y="2290953"/>
                </a:cubicBezTo>
                <a:cubicBezTo>
                  <a:pt x="5173979" y="2292731"/>
                  <a:pt x="5173471" y="2294382"/>
                  <a:pt x="5172836" y="2295906"/>
                </a:cubicBezTo>
                <a:cubicBezTo>
                  <a:pt x="5180965" y="2303018"/>
                  <a:pt x="5183504" y="2309495"/>
                  <a:pt x="5185409" y="2315083"/>
                </a:cubicBezTo>
                <a:lnTo>
                  <a:pt x="5193157" y="2327021"/>
                </a:lnTo>
                <a:lnTo>
                  <a:pt x="5194553" y="2334260"/>
                </a:lnTo>
                <a:lnTo>
                  <a:pt x="5197983" y="2364105"/>
                </a:lnTo>
                <a:lnTo>
                  <a:pt x="5200015" y="2371217"/>
                </a:lnTo>
                <a:lnTo>
                  <a:pt x="5203063" y="2394712"/>
                </a:lnTo>
                <a:lnTo>
                  <a:pt x="5202173" y="2408682"/>
                </a:lnTo>
                <a:lnTo>
                  <a:pt x="5207127" y="2426335"/>
                </a:lnTo>
                <a:cubicBezTo>
                  <a:pt x="5207253" y="2427224"/>
                  <a:pt x="5207380" y="2428240"/>
                  <a:pt x="5207380" y="2429129"/>
                </a:cubicBezTo>
                <a:lnTo>
                  <a:pt x="5205729" y="2432304"/>
                </a:lnTo>
                <a:cubicBezTo>
                  <a:pt x="5206110" y="2434082"/>
                  <a:pt x="5207127" y="2436114"/>
                  <a:pt x="5208270" y="2438273"/>
                </a:cubicBezTo>
                <a:cubicBezTo>
                  <a:pt x="5208396" y="2438908"/>
                  <a:pt x="5208651" y="2439543"/>
                  <a:pt x="5208778" y="2440305"/>
                </a:cubicBezTo>
                <a:lnTo>
                  <a:pt x="5210809" y="2457704"/>
                </a:lnTo>
                <a:cubicBezTo>
                  <a:pt x="5210555" y="2459101"/>
                  <a:pt x="5210428" y="2460498"/>
                  <a:pt x="5210302" y="2461895"/>
                </a:cubicBezTo>
                <a:lnTo>
                  <a:pt x="5212079" y="2469388"/>
                </a:lnTo>
                <a:lnTo>
                  <a:pt x="5216905" y="2510282"/>
                </a:lnTo>
                <a:cubicBezTo>
                  <a:pt x="5223890" y="2572385"/>
                  <a:pt x="5230114" y="2631567"/>
                  <a:pt x="5232653" y="2659253"/>
                </a:cubicBezTo>
                <a:cubicBezTo>
                  <a:pt x="5229605" y="2664587"/>
                  <a:pt x="5227701" y="2670429"/>
                  <a:pt x="5226558" y="2676525"/>
                </a:cubicBezTo>
                <a:lnTo>
                  <a:pt x="5225288" y="2694432"/>
                </a:lnTo>
                <a:lnTo>
                  <a:pt x="5226684" y="2696210"/>
                </a:lnTo>
                <a:cubicBezTo>
                  <a:pt x="5230495" y="2704846"/>
                  <a:pt x="5231003" y="2710815"/>
                  <a:pt x="5229859" y="2715641"/>
                </a:cubicBezTo>
                <a:lnTo>
                  <a:pt x="5227320" y="2720848"/>
                </a:lnTo>
                <a:cubicBezTo>
                  <a:pt x="5227701" y="2725420"/>
                  <a:pt x="5228082" y="2729992"/>
                  <a:pt x="5228463" y="2734564"/>
                </a:cubicBezTo>
                <a:cubicBezTo>
                  <a:pt x="5228335" y="2743708"/>
                  <a:pt x="5228209" y="2752979"/>
                  <a:pt x="5228082" y="2762250"/>
                </a:cubicBezTo>
                <a:lnTo>
                  <a:pt x="5230495" y="2766695"/>
                </a:lnTo>
                <a:lnTo>
                  <a:pt x="5233796" y="2807335"/>
                </a:lnTo>
                <a:lnTo>
                  <a:pt x="5235066" y="2807462"/>
                </a:lnTo>
                <a:cubicBezTo>
                  <a:pt x="5237988" y="2808986"/>
                  <a:pt x="5240273" y="2811780"/>
                  <a:pt x="5241290" y="2817495"/>
                </a:cubicBezTo>
                <a:cubicBezTo>
                  <a:pt x="5257419" y="2803652"/>
                  <a:pt x="5248655" y="2819146"/>
                  <a:pt x="5250434" y="2837307"/>
                </a:cubicBezTo>
                <a:cubicBezTo>
                  <a:pt x="5275707" y="2819908"/>
                  <a:pt x="5269865" y="2874518"/>
                  <a:pt x="5286375" y="2878836"/>
                </a:cubicBezTo>
                <a:lnTo>
                  <a:pt x="5291328" y="2929509"/>
                </a:lnTo>
                <a:lnTo>
                  <a:pt x="5291709" y="2929509"/>
                </a:lnTo>
                <a:cubicBezTo>
                  <a:pt x="5292471" y="2931160"/>
                  <a:pt x="5293233" y="2933954"/>
                  <a:pt x="5293614" y="2938272"/>
                </a:cubicBezTo>
                <a:cubicBezTo>
                  <a:pt x="5293740" y="2940431"/>
                  <a:pt x="5293740" y="2942463"/>
                  <a:pt x="5293867" y="2944622"/>
                </a:cubicBezTo>
                <a:lnTo>
                  <a:pt x="5296534" y="2960878"/>
                </a:lnTo>
                <a:lnTo>
                  <a:pt x="5299328" y="2965958"/>
                </a:lnTo>
                <a:lnTo>
                  <a:pt x="5303011" y="2967355"/>
                </a:lnTo>
                <a:lnTo>
                  <a:pt x="5302884" y="2968879"/>
                </a:lnTo>
                <a:cubicBezTo>
                  <a:pt x="5298947" y="2981325"/>
                  <a:pt x="5291073" y="2986405"/>
                  <a:pt x="5317109" y="2996946"/>
                </a:cubicBezTo>
                <a:cubicBezTo>
                  <a:pt x="5312028" y="3024759"/>
                  <a:pt x="5327269" y="3027426"/>
                  <a:pt x="5338698" y="3062351"/>
                </a:cubicBezTo>
                <a:cubicBezTo>
                  <a:pt x="5332221" y="3078861"/>
                  <a:pt x="5337555" y="3090291"/>
                  <a:pt x="5346827" y="3100832"/>
                </a:cubicBezTo>
                <a:cubicBezTo>
                  <a:pt x="5348732" y="3136392"/>
                  <a:pt x="5364353" y="3166491"/>
                  <a:pt x="5373751" y="3205226"/>
                </a:cubicBezTo>
                <a:lnTo>
                  <a:pt x="5401055" y="3313938"/>
                </a:lnTo>
                <a:lnTo>
                  <a:pt x="5416550" y="3380232"/>
                </a:lnTo>
                <a:cubicBezTo>
                  <a:pt x="5416422" y="3382391"/>
                  <a:pt x="5422138" y="3385185"/>
                  <a:pt x="5428107" y="3387725"/>
                </a:cubicBezTo>
                <a:lnTo>
                  <a:pt x="5433695" y="3390138"/>
                </a:lnTo>
                <a:lnTo>
                  <a:pt x="5438647" y="3420491"/>
                </a:lnTo>
                <a:lnTo>
                  <a:pt x="5436361" y="3443224"/>
                </a:lnTo>
                <a:lnTo>
                  <a:pt x="5451347" y="3527933"/>
                </a:lnTo>
                <a:lnTo>
                  <a:pt x="5457316" y="3610102"/>
                </a:lnTo>
                <a:cubicBezTo>
                  <a:pt x="5457825" y="3626358"/>
                  <a:pt x="5458333" y="3642614"/>
                  <a:pt x="5458967" y="3658743"/>
                </a:cubicBezTo>
                <a:lnTo>
                  <a:pt x="5450585" y="3671570"/>
                </a:lnTo>
                <a:lnTo>
                  <a:pt x="5460491" y="3707130"/>
                </a:lnTo>
                <a:lnTo>
                  <a:pt x="5461634" y="3741166"/>
                </a:lnTo>
                <a:cubicBezTo>
                  <a:pt x="5461889" y="3757930"/>
                  <a:pt x="5462270" y="3774694"/>
                  <a:pt x="5462523" y="3791458"/>
                </a:cubicBezTo>
                <a:cubicBezTo>
                  <a:pt x="5462523" y="3792474"/>
                  <a:pt x="5462523" y="3793490"/>
                  <a:pt x="5462396" y="3794506"/>
                </a:cubicBezTo>
                <a:cubicBezTo>
                  <a:pt x="5462523" y="3798062"/>
                  <a:pt x="5462651" y="3801618"/>
                  <a:pt x="5462778" y="3805174"/>
                </a:cubicBezTo>
                <a:cubicBezTo>
                  <a:pt x="5463032" y="3818509"/>
                  <a:pt x="5463285" y="3831844"/>
                  <a:pt x="5463540" y="3845052"/>
                </a:cubicBezTo>
                <a:cubicBezTo>
                  <a:pt x="5465826" y="3955415"/>
                  <a:pt x="5441188" y="3966845"/>
                  <a:pt x="5442584" y="4021582"/>
                </a:cubicBezTo>
                <a:lnTo>
                  <a:pt x="5464175" y="4059174"/>
                </a:lnTo>
                <a:lnTo>
                  <a:pt x="5463794" y="4102608"/>
                </a:lnTo>
                <a:cubicBezTo>
                  <a:pt x="5440807" y="4165473"/>
                  <a:pt x="5470905" y="4256786"/>
                  <a:pt x="5462396" y="4327525"/>
                </a:cubicBezTo>
                <a:cubicBezTo>
                  <a:pt x="5461761" y="4383024"/>
                  <a:pt x="5458967" y="4414012"/>
                  <a:pt x="5459984" y="4435475"/>
                </a:cubicBezTo>
                <a:cubicBezTo>
                  <a:pt x="5462270" y="4442714"/>
                  <a:pt x="5465317" y="4449445"/>
                  <a:pt x="5468620" y="4456303"/>
                </a:cubicBezTo>
                <a:lnTo>
                  <a:pt x="5470397" y="4459859"/>
                </a:lnTo>
                <a:lnTo>
                  <a:pt x="5472176" y="4474337"/>
                </a:lnTo>
                <a:lnTo>
                  <a:pt x="5479034" y="4478274"/>
                </a:lnTo>
                <a:lnTo>
                  <a:pt x="5486400" y="4499864"/>
                </a:lnTo>
                <a:cubicBezTo>
                  <a:pt x="5488051" y="4507992"/>
                  <a:pt x="5488813" y="4516755"/>
                  <a:pt x="5487923" y="4526407"/>
                </a:cubicBezTo>
                <a:cubicBezTo>
                  <a:pt x="5488051" y="4531995"/>
                  <a:pt x="5488051" y="4537583"/>
                  <a:pt x="5488178" y="4543171"/>
                </a:cubicBezTo>
                <a:lnTo>
                  <a:pt x="5487289" y="4544695"/>
                </a:lnTo>
                <a:cubicBezTo>
                  <a:pt x="5486653" y="4547489"/>
                  <a:pt x="5486653" y="4550918"/>
                  <a:pt x="5485891" y="4553966"/>
                </a:cubicBezTo>
                <a:cubicBezTo>
                  <a:pt x="5480684" y="4558792"/>
                  <a:pt x="5478398" y="4588510"/>
                  <a:pt x="5480303" y="4598416"/>
                </a:cubicBezTo>
                <a:cubicBezTo>
                  <a:pt x="5488813" y="4626102"/>
                  <a:pt x="5468365" y="4652137"/>
                  <a:pt x="5474589" y="4674235"/>
                </a:cubicBezTo>
                <a:cubicBezTo>
                  <a:pt x="5472429" y="4691380"/>
                  <a:pt x="5469382" y="4696714"/>
                  <a:pt x="5467603" y="4701413"/>
                </a:cubicBezTo>
                <a:lnTo>
                  <a:pt x="5463666" y="4702302"/>
                </a:lnTo>
                <a:lnTo>
                  <a:pt x="5462015" y="4710557"/>
                </a:lnTo>
                <a:lnTo>
                  <a:pt x="5461000" y="4712462"/>
                </a:lnTo>
                <a:cubicBezTo>
                  <a:pt x="5458840" y="4715764"/>
                  <a:pt x="5456809" y="4719320"/>
                  <a:pt x="5455284" y="4723130"/>
                </a:cubicBezTo>
                <a:lnTo>
                  <a:pt x="5458967" y="4771009"/>
                </a:lnTo>
                <a:lnTo>
                  <a:pt x="5463032" y="4785741"/>
                </a:lnTo>
                <a:lnTo>
                  <a:pt x="5468111" y="4793869"/>
                </a:lnTo>
                <a:lnTo>
                  <a:pt x="5484240" y="4849876"/>
                </a:lnTo>
                <a:lnTo>
                  <a:pt x="5497576" y="4887849"/>
                </a:lnTo>
                <a:lnTo>
                  <a:pt x="5502528" y="4895723"/>
                </a:lnTo>
                <a:lnTo>
                  <a:pt x="5501513" y="4905756"/>
                </a:lnTo>
                <a:cubicBezTo>
                  <a:pt x="5500878" y="4907026"/>
                  <a:pt x="5500115" y="4908169"/>
                  <a:pt x="5499100" y="4909058"/>
                </a:cubicBezTo>
                <a:lnTo>
                  <a:pt x="5510529" y="4939157"/>
                </a:lnTo>
                <a:lnTo>
                  <a:pt x="5511419" y="4942840"/>
                </a:lnTo>
                <a:lnTo>
                  <a:pt x="5515483" y="4968621"/>
                </a:lnTo>
                <a:cubicBezTo>
                  <a:pt x="5515736" y="4995291"/>
                  <a:pt x="5516117" y="5021961"/>
                  <a:pt x="5516371" y="5048504"/>
                </a:cubicBezTo>
                <a:cubicBezTo>
                  <a:pt x="5508371" y="5046091"/>
                  <a:pt x="5522214" y="5066792"/>
                  <a:pt x="5516753" y="5071999"/>
                </a:cubicBezTo>
                <a:cubicBezTo>
                  <a:pt x="5512053" y="5075301"/>
                  <a:pt x="5515102" y="5082286"/>
                  <a:pt x="5515228" y="5088509"/>
                </a:cubicBezTo>
                <a:cubicBezTo>
                  <a:pt x="5511419" y="5094605"/>
                  <a:pt x="5516753" y="5124069"/>
                  <a:pt x="5521071" y="5133467"/>
                </a:cubicBezTo>
                <a:cubicBezTo>
                  <a:pt x="5536310" y="5158613"/>
                  <a:pt x="5523103" y="5188712"/>
                  <a:pt x="5534659" y="5209032"/>
                </a:cubicBezTo>
                <a:cubicBezTo>
                  <a:pt x="5536946" y="5226304"/>
                  <a:pt x="5535421" y="5232146"/>
                  <a:pt x="5534786" y="5237226"/>
                </a:cubicBezTo>
                <a:lnTo>
                  <a:pt x="5531230" y="5239004"/>
                </a:lnTo>
                <a:lnTo>
                  <a:pt x="5531739" y="5247513"/>
                </a:lnTo>
                <a:lnTo>
                  <a:pt x="5531230" y="5249545"/>
                </a:lnTo>
                <a:cubicBezTo>
                  <a:pt x="5529960" y="5253355"/>
                  <a:pt x="5528945" y="5257165"/>
                  <a:pt x="5528436" y="5261229"/>
                </a:cubicBezTo>
                <a:cubicBezTo>
                  <a:pt x="5545709" y="5265166"/>
                  <a:pt x="5526913" y="5296789"/>
                  <a:pt x="5541136" y="5292598"/>
                </a:cubicBezTo>
                <a:cubicBezTo>
                  <a:pt x="5541390" y="5315839"/>
                  <a:pt x="5564759" y="5343906"/>
                  <a:pt x="5551423" y="5364099"/>
                </a:cubicBezTo>
                <a:cubicBezTo>
                  <a:pt x="5555488" y="5398643"/>
                  <a:pt x="5556377" y="5429758"/>
                  <a:pt x="5561965" y="5466461"/>
                </a:cubicBezTo>
                <a:cubicBezTo>
                  <a:pt x="5571744" y="5494782"/>
                  <a:pt x="5562219" y="5525516"/>
                  <a:pt x="5574538" y="5546090"/>
                </a:cubicBezTo>
                <a:cubicBezTo>
                  <a:pt x="5573903" y="5578856"/>
                  <a:pt x="5582411" y="5619686"/>
                  <a:pt x="5600446" y="5645429"/>
                </a:cubicBezTo>
                <a:cubicBezTo>
                  <a:pt x="5603113" y="5680570"/>
                  <a:pt x="5613780" y="5686552"/>
                  <a:pt x="5605779" y="5717311"/>
                </a:cubicBezTo>
                <a:cubicBezTo>
                  <a:pt x="5608446" y="5719889"/>
                  <a:pt x="5610605" y="5722899"/>
                  <a:pt x="5612510" y="5726214"/>
                </a:cubicBezTo>
                <a:lnTo>
                  <a:pt x="5616828" y="5736285"/>
                </a:lnTo>
                <a:lnTo>
                  <a:pt x="5616447" y="5737530"/>
                </a:lnTo>
                <a:lnTo>
                  <a:pt x="5623305" y="5759882"/>
                </a:lnTo>
                <a:lnTo>
                  <a:pt x="5635371" y="5802655"/>
                </a:lnTo>
                <a:lnTo>
                  <a:pt x="5634735" y="5802998"/>
                </a:lnTo>
                <a:cubicBezTo>
                  <a:pt x="5633592" y="5804306"/>
                  <a:pt x="5632958" y="5806300"/>
                  <a:pt x="5633592" y="5809780"/>
                </a:cubicBezTo>
                <a:cubicBezTo>
                  <a:pt x="5622290" y="5804586"/>
                  <a:pt x="5630036" y="5811990"/>
                  <a:pt x="5632830" y="5822746"/>
                </a:cubicBezTo>
                <a:cubicBezTo>
                  <a:pt x="5615940" y="5817057"/>
                  <a:pt x="5630164" y="5847474"/>
                  <a:pt x="5622416" y="5852731"/>
                </a:cubicBezTo>
                <a:cubicBezTo>
                  <a:pt x="5624829" y="5860758"/>
                  <a:pt x="5627115" y="5869127"/>
                  <a:pt x="5629147" y="5877687"/>
                </a:cubicBezTo>
                <a:lnTo>
                  <a:pt x="5630164" y="5882729"/>
                </a:lnTo>
                <a:lnTo>
                  <a:pt x="5630036" y="5882830"/>
                </a:lnTo>
                <a:cubicBezTo>
                  <a:pt x="5629909" y="5883948"/>
                  <a:pt x="5630036" y="5885612"/>
                  <a:pt x="5630798" y="5888164"/>
                </a:cubicBezTo>
                <a:lnTo>
                  <a:pt x="5633846" y="5901690"/>
                </a:lnTo>
                <a:cubicBezTo>
                  <a:pt x="5633720" y="5902820"/>
                  <a:pt x="5633592" y="5903963"/>
                  <a:pt x="5633465" y="5905093"/>
                </a:cubicBezTo>
                <a:lnTo>
                  <a:pt x="5630417" y="5925909"/>
                </a:lnTo>
                <a:cubicBezTo>
                  <a:pt x="5631179" y="5939955"/>
                  <a:pt x="5633846" y="5969190"/>
                  <a:pt x="5636005" y="5990768"/>
                </a:cubicBezTo>
                <a:cubicBezTo>
                  <a:pt x="5642228" y="6011557"/>
                  <a:pt x="5640196" y="6031509"/>
                  <a:pt x="5643245" y="6055398"/>
                </a:cubicBezTo>
                <a:cubicBezTo>
                  <a:pt x="5654547" y="6080176"/>
                  <a:pt x="5645150" y="6094831"/>
                  <a:pt x="5648452" y="6120346"/>
                </a:cubicBezTo>
                <a:cubicBezTo>
                  <a:pt x="5663819" y="6140831"/>
                  <a:pt x="5641847" y="6139726"/>
                  <a:pt x="5639689" y="6153289"/>
                </a:cubicBezTo>
                <a:lnTo>
                  <a:pt x="5639942" y="6157011"/>
                </a:lnTo>
                <a:lnTo>
                  <a:pt x="5643498" y="6166358"/>
                </a:lnTo>
                <a:lnTo>
                  <a:pt x="5645150" y="6169736"/>
                </a:lnTo>
                <a:cubicBezTo>
                  <a:pt x="5646165" y="6172124"/>
                  <a:pt x="5646673" y="6173775"/>
                  <a:pt x="5646801" y="6174981"/>
                </a:cubicBezTo>
                <a:cubicBezTo>
                  <a:pt x="5646801" y="6175032"/>
                  <a:pt x="5646673" y="6175095"/>
                  <a:pt x="5646673" y="6175146"/>
                </a:cubicBezTo>
                <a:lnTo>
                  <a:pt x="5658992" y="6203023"/>
                </a:lnTo>
                <a:cubicBezTo>
                  <a:pt x="5653023" y="6211849"/>
                  <a:pt x="5671058" y="6237363"/>
                  <a:pt x="5655183" y="6238710"/>
                </a:cubicBezTo>
                <a:cubicBezTo>
                  <a:pt x="5659628" y="6248667"/>
                  <a:pt x="5667755" y="6253073"/>
                  <a:pt x="5656834" y="6252515"/>
                </a:cubicBezTo>
                <a:cubicBezTo>
                  <a:pt x="5657977" y="6255867"/>
                  <a:pt x="5657850" y="6258217"/>
                  <a:pt x="5656960" y="6260109"/>
                </a:cubicBezTo>
                <a:lnTo>
                  <a:pt x="5666613" y="6282804"/>
                </a:lnTo>
                <a:cubicBezTo>
                  <a:pt x="5666613" y="6283883"/>
                  <a:pt x="5666740" y="6284976"/>
                  <a:pt x="5666740" y="6286068"/>
                </a:cubicBezTo>
                <a:lnTo>
                  <a:pt x="5674867" y="6300025"/>
                </a:lnTo>
                <a:lnTo>
                  <a:pt x="5685028" y="6320320"/>
                </a:lnTo>
                <a:cubicBezTo>
                  <a:pt x="5684901" y="6320802"/>
                  <a:pt x="5684901" y="6321298"/>
                  <a:pt x="5684901" y="6321780"/>
                </a:cubicBezTo>
                <a:lnTo>
                  <a:pt x="5690489" y="6330378"/>
                </a:lnTo>
                <a:cubicBezTo>
                  <a:pt x="5692775" y="6333020"/>
                  <a:pt x="5701919" y="6370726"/>
                  <a:pt x="5704713" y="6372276"/>
                </a:cubicBezTo>
                <a:lnTo>
                  <a:pt x="5731255" y="6563169"/>
                </a:lnTo>
                <a:cubicBezTo>
                  <a:pt x="5751067" y="6672275"/>
                  <a:pt x="5771007" y="6750425"/>
                  <a:pt x="5790946" y="6815027"/>
                </a:cubicBezTo>
                <a:lnTo>
                  <a:pt x="5807075" y="6864349"/>
                </a:lnTo>
                <a:lnTo>
                  <a:pt x="6350" y="6864349"/>
                </a:lnTo>
                <a:lnTo>
                  <a:pt x="6350" y="6350"/>
                </a:lnTo>
                <a:lnTo>
                  <a:pt x="6350" y="6350"/>
                </a:lnTo>
                <a:close/>
              </a:path>
            </a:pathLst>
          </a:custGeom>
          <a:solidFill>
            <a:srgbClr val="ECEAE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1744980"/>
            <a:ext cx="5737860" cy="3352800"/>
          </a:xfrm>
          <a:prstGeom prst="rect">
            <a:avLst/>
          </a:prstGeom>
        </p:spPr>
      </p:pic>
      <p:sp>
        <p:nvSpPr>
          <p:cNvPr id="2" name="TextBox 59"/>
          <p:cNvSpPr txBox="1"/>
          <p:nvPr/>
        </p:nvSpPr>
        <p:spPr>
          <a:xfrm>
            <a:off x="980122" y="2467658"/>
            <a:ext cx="3226815" cy="2552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4400" spc="-114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4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4400" spc="-104" dirty="0">
                <a:solidFill>
                  <a:srgbClr val="000000"/>
                </a:solidFill>
                <a:latin typeface="Times New Roman"/>
                <a:ea typeface="Times New Roman"/>
              </a:rPr>
              <a:t>BI</a:t>
            </a:r>
            <a:r>
              <a:rPr lang="en-US" altLang="zh-CN" sz="4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4400" spc="-225" dirty="0">
                <a:solidFill>
                  <a:srgbClr val="000000"/>
                </a:solidFill>
                <a:latin typeface="PMingLiU"/>
                <a:ea typeface="PMingLiU"/>
              </a:rPr>
              <a:t>儀表</a:t>
            </a:r>
          </a:p>
          <a:p>
            <a:pPr marL="0" indent="764857">
              <a:lnSpc>
                <a:spcPct val="100000"/>
              </a:lnSpc>
            </a:pPr>
            <a:r>
              <a:rPr lang="zh-CN" altLang="en-US" sz="4450" spc="-50" dirty="0">
                <a:solidFill>
                  <a:srgbClr val="000000"/>
                </a:solidFill>
                <a:latin typeface="PMingLiU"/>
                <a:ea typeface="PMingLiU"/>
              </a:rPr>
              <a:t>板總覽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35"/>
              </a:lnSpc>
            </a:pPr>
            <a:endParaRPr lang="en-US" dirty="0" smtClean="0"/>
          </a:p>
          <a:p>
            <a:pPr marL="0" indent="150812">
              <a:lnSpc>
                <a:spcPct val="100000"/>
              </a:lnSpc>
            </a:pPr>
            <a:r>
              <a:rPr lang="zh-CN" altLang="en-US" sz="1500" spc="5" dirty="0">
                <a:solidFill>
                  <a:srgbClr val="000000"/>
                </a:solidFill>
                <a:latin typeface="PMingLiU"/>
                <a:ea typeface="PMingLiU"/>
              </a:rPr>
              <a:t>整合總人次、</a:t>
            </a:r>
            <a:r>
              <a:rPr lang="zh-CN" altLang="en-US" sz="1500" dirty="0">
                <a:solidFill>
                  <a:srgbClr val="000000"/>
                </a:solidFill>
                <a:latin typeface="PMingLiU"/>
                <a:ea typeface="PMingLiU"/>
              </a:rPr>
              <a:t>時段變化、平假日比</a:t>
            </a:r>
          </a:p>
          <a:p>
            <a:pPr marL="0" indent="1009078">
              <a:lnSpc>
                <a:spcPct val="92083"/>
              </a:lnSpc>
            </a:pPr>
            <a:r>
              <a:rPr lang="zh-CN" altLang="en-US" sz="1500" spc="-5" dirty="0">
                <a:solidFill>
                  <a:srgbClr val="000000"/>
                </a:solidFill>
                <a:latin typeface="PMingLiU"/>
                <a:ea typeface="PMingLiU"/>
              </a:rPr>
              <a:t>較與</a:t>
            </a:r>
            <a:r>
              <a:rPr lang="zh-CN" altLang="en-US" sz="1500" dirty="0">
                <a:solidFill>
                  <a:srgbClr val="000000"/>
                </a:solidFill>
                <a:latin typeface="PMingLiU"/>
                <a:ea typeface="PMingLiU"/>
              </a:rPr>
              <a:t>車站比較</a:t>
            </a:r>
          </a:p>
          <a:p>
            <a:pPr marL="0" indent="263842">
              <a:lnSpc>
                <a:spcPct val="91250"/>
              </a:lnSpc>
            </a:pPr>
            <a:r>
              <a:rPr lang="zh-CN" altLang="en-US" sz="1500" dirty="0">
                <a:solidFill>
                  <a:srgbClr val="000000"/>
                </a:solidFill>
                <a:latin typeface="PMingLiU"/>
                <a:ea typeface="PMingLiU"/>
              </a:rPr>
              <a:t>讓大量</a:t>
            </a:r>
            <a:r>
              <a:rPr lang="zh-CN" altLang="en-US" sz="1500" spc="-104" dirty="0">
                <a:solidFill>
                  <a:srgbClr val="000000"/>
                </a:solidFill>
                <a:latin typeface="PMingLiU"/>
                <a:cs typeface="PMingLiU"/>
              </a:rPr>
              <a:t> </a:t>
            </a:r>
            <a:r>
              <a:rPr lang="en-US" altLang="zh-CN" sz="1500" dirty="0">
                <a:solidFill>
                  <a:srgbClr val="000000"/>
                </a:solidFill>
                <a:latin typeface="Times New Roman"/>
                <a:ea typeface="Times New Roman"/>
              </a:rPr>
              <a:t>OD</a:t>
            </a:r>
            <a:r>
              <a:rPr lang="en-US" altLang="zh-CN" sz="15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500" dirty="0">
                <a:solidFill>
                  <a:srgbClr val="000000"/>
                </a:solidFill>
                <a:latin typeface="PMingLiU"/>
                <a:ea typeface="PMingLiU"/>
              </a:rPr>
              <a:t>資料變得更容易閱讀</a:t>
            </a:r>
          </a:p>
          <a:p>
            <a:pPr marL="0" indent="436943">
              <a:lnSpc>
                <a:spcPct val="100000"/>
              </a:lnSpc>
            </a:pPr>
            <a:r>
              <a:rPr lang="zh-CN" altLang="en-US" sz="1500" spc="5" dirty="0">
                <a:solidFill>
                  <a:srgbClr val="000000"/>
                </a:solidFill>
                <a:latin typeface="PMingLiU"/>
                <a:ea typeface="PMingLiU"/>
              </a:rPr>
              <a:t>可以快速</a:t>
            </a:r>
            <a:r>
              <a:rPr lang="zh-CN" altLang="en-US" sz="1500" dirty="0">
                <a:solidFill>
                  <a:srgbClr val="000000"/>
                </a:solidFill>
                <a:latin typeface="PMingLiU"/>
                <a:ea typeface="PMingLiU"/>
              </a:rPr>
              <a:t>看出捷運人流趨勢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TW" altLang="en-US" smtClean="0"/>
              <a:t>紀錄</a:t>
            </a:r>
            <a:endParaRPr lang="zh-CN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60746"/>
            <a:ext cx="8229600" cy="2004870"/>
          </a:xfrm>
        </p:spPr>
      </p:pic>
    </p:spTree>
    <p:extLst>
      <p:ext uri="{BB962C8B-B14F-4D97-AF65-F5344CB8AC3E}">
        <p14:creationId xmlns:p14="http://schemas.microsoft.com/office/powerpoint/2010/main" val="178939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61"/>
          <p:cNvSpPr txBox="1"/>
          <p:nvPr/>
        </p:nvSpPr>
        <p:spPr>
          <a:xfrm>
            <a:off x="1930019" y="3097748"/>
            <a:ext cx="2815622" cy="745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en-US" altLang="zh-CN" sz="4400" spc="15" dirty="0">
                <a:solidFill>
                  <a:srgbClr val="FEFEFE"/>
                </a:solidFill>
                <a:latin typeface="Microsoft JhengHei"/>
                <a:ea typeface="Microsoft JhengHei"/>
              </a:rPr>
              <a:t>結論與</a:t>
            </a:r>
            <a:r>
              <a:rPr lang="en-US" altLang="zh-CN" sz="4400" spc="10" dirty="0">
                <a:solidFill>
                  <a:srgbClr val="FEFEFE"/>
                </a:solidFill>
                <a:latin typeface="Microsoft JhengHei"/>
                <a:ea typeface="Microsoft JhengHei"/>
              </a:rPr>
              <a:t>建議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73901" y="1087734"/>
            <a:ext cx="4818272" cy="40568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150" spc="50" dirty="0">
                <a:solidFill>
                  <a:srgbClr val="FEFEFE"/>
                </a:solidFill>
                <a:latin typeface="Microsoft JhengHei"/>
                <a:ea typeface="Microsoft JhengHei"/>
              </a:rPr>
              <a:t>臺北捷運人流具有明顯早晚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尖峰。</a:t>
            </a:r>
          </a:p>
          <a:p>
            <a:pPr marL="0" indent="57150">
              <a:lnSpc>
                <a:spcPct val="92916"/>
              </a:lnSpc>
            </a:pPr>
            <a:r>
              <a:rPr lang="en-US" altLang="zh-CN" sz="2150" spc="50" dirty="0">
                <a:solidFill>
                  <a:srgbClr val="FEFEFE"/>
                </a:solidFill>
                <a:latin typeface="Microsoft JhengHei"/>
                <a:ea typeface="Microsoft JhengHei"/>
              </a:rPr>
              <a:t>平日以通勤需求為主，假日人流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較平</a:t>
            </a:r>
          </a:p>
          <a:p>
            <a:pPr marL="0">
              <a:lnSpc>
                <a:spcPct val="93333"/>
              </a:lnSpc>
            </a:pPr>
            <a:r>
              <a:rPr lang="en-US" altLang="zh-CN" sz="2150" spc="20" dirty="0">
                <a:solidFill>
                  <a:srgbClr val="FEFEFE"/>
                </a:solidFill>
                <a:latin typeface="Microsoft JhengHei"/>
                <a:ea typeface="Microsoft JhengHei"/>
              </a:rPr>
              <a:t>緩。</a:t>
            </a:r>
          </a:p>
          <a:p>
            <a:pPr marL="0" indent="57150">
              <a:lnSpc>
                <a:spcPct val="93333"/>
              </a:lnSpc>
            </a:pPr>
            <a:r>
              <a:rPr lang="en-US" altLang="zh-CN" sz="2150" spc="50" dirty="0">
                <a:solidFill>
                  <a:srgbClr val="FEFEFE"/>
                </a:solidFill>
                <a:latin typeface="Microsoft JhengHei"/>
                <a:ea typeface="Microsoft JhengHei"/>
              </a:rPr>
              <a:t>亞東醫院站偏通勤型，中山站偏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商圈</a:t>
            </a:r>
          </a:p>
          <a:p>
            <a:pPr marL="0">
              <a:lnSpc>
                <a:spcPct val="93333"/>
              </a:lnSpc>
            </a:pPr>
            <a:r>
              <a:rPr lang="en-US" altLang="zh-CN" sz="2150" spc="20" dirty="0">
                <a:solidFill>
                  <a:srgbClr val="FEFEFE"/>
                </a:solidFill>
                <a:latin typeface="Microsoft JhengHei"/>
                <a:ea typeface="Microsoft JhengHei"/>
              </a:rPr>
              <a:t>型。</a:t>
            </a:r>
          </a:p>
          <a:p>
            <a:pPr marL="0" indent="57150">
              <a:lnSpc>
                <a:spcPct val="93333"/>
              </a:lnSpc>
            </a:pPr>
            <a:r>
              <a:rPr lang="en-US" altLang="zh-CN" sz="2150" spc="50" dirty="0">
                <a:solidFill>
                  <a:srgbClr val="FEFEFE"/>
                </a:solidFill>
                <a:latin typeface="Microsoft JhengHei"/>
                <a:ea typeface="Microsoft JhengHei"/>
              </a:rPr>
              <a:t>未來可加入更多月份資料，分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析季節、</a:t>
            </a:r>
          </a:p>
          <a:p>
            <a:pPr marL="0">
              <a:lnSpc>
                <a:spcPct val="100000"/>
              </a:lnSpc>
            </a:pPr>
            <a:r>
              <a:rPr lang="en-US" altLang="zh-CN" sz="2150" spc="50" dirty="0">
                <a:solidFill>
                  <a:srgbClr val="FEFEFE"/>
                </a:solidFill>
                <a:latin typeface="Microsoft JhengHei"/>
                <a:ea typeface="Microsoft JhengHei"/>
              </a:rPr>
              <a:t>假日或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特殊活動影響。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35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150" spc="25" dirty="0">
                <a:solidFill>
                  <a:srgbClr val="FEFEFE"/>
                </a:solidFill>
                <a:latin typeface="Microsoft JhengHei"/>
                <a:ea typeface="Microsoft JhengHei"/>
              </a:rPr>
              <a:t>透過</a:t>
            </a:r>
            <a:r>
              <a:rPr lang="en-US" altLang="zh-CN" sz="2150" spc="25" dirty="0">
                <a:solidFill>
                  <a:srgbClr val="FEFEFE"/>
                </a:solidFill>
                <a:latin typeface="Microsoft JhengHei"/>
                <a:cs typeface="Microsoft JhengHei"/>
              </a:rPr>
              <a:t> </a:t>
            </a:r>
            <a:r>
              <a:rPr lang="en-US" altLang="zh-CN" sz="2150" spc="15" dirty="0">
                <a:solidFill>
                  <a:srgbClr val="FEFEFE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2150" spc="3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50" spc="15" dirty="0">
                <a:solidFill>
                  <a:srgbClr val="FEFEFE"/>
                </a:solidFill>
                <a:latin typeface="Times New Roman"/>
                <a:ea typeface="Times New Roman"/>
              </a:rPr>
              <a:t>BI</a:t>
            </a:r>
            <a:r>
              <a:rPr lang="en-US" altLang="zh-CN" sz="2150" spc="25" dirty="0">
                <a:solidFill>
                  <a:srgbClr val="FEFEFE"/>
                </a:solidFill>
                <a:latin typeface="Microsoft JhengHei"/>
                <a:ea typeface="Microsoft JhengHei"/>
              </a:rPr>
              <a:t>，可以把原本大量的捷運</a:t>
            </a:r>
            <a:r>
              <a:rPr lang="en-US" altLang="zh-CN" sz="2150" spc="34" dirty="0">
                <a:solidFill>
                  <a:srgbClr val="FEFEFE"/>
                </a:solidFill>
                <a:latin typeface="Times New Roman"/>
                <a:ea typeface="Times New Roman"/>
              </a:rPr>
              <a:t>OD</a:t>
            </a:r>
            <a:r>
              <a:rPr lang="en-US" altLang="zh-CN" sz="2150" spc="-3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50" spc="44" dirty="0">
                <a:solidFill>
                  <a:srgbClr val="FEFEFE"/>
                </a:solidFill>
                <a:latin typeface="Microsoft JhengHei"/>
                <a:ea typeface="Microsoft JhengHei"/>
              </a:rPr>
              <a:t>資料，轉換成比較容易理解的圖表與儀表</a:t>
            </a:r>
            <a:r>
              <a:rPr lang="en-US" altLang="zh-CN" sz="2150" spc="34" dirty="0">
                <a:solidFill>
                  <a:srgbClr val="FEFEFE"/>
                </a:solidFill>
                <a:latin typeface="Microsoft JhengHei"/>
                <a:ea typeface="Microsoft JhengHei"/>
              </a:rPr>
              <a:t>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寬螢幕</PresentationFormat>
  <Paragraphs>106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宋体</vt:lpstr>
      <vt:lpstr>Microsoft JhengHei</vt:lpstr>
      <vt:lpstr>新細明體</vt:lpstr>
      <vt:lpstr>新細明體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Git紀錄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user</cp:lastModifiedBy>
  <cp:revision>2</cp:revision>
  <dcterms:created xsi:type="dcterms:W3CDTF">2011-01-21T15:00:27Z</dcterms:created>
  <dcterms:modified xsi:type="dcterms:W3CDTF">2026-06-25T11:33:20Z</dcterms:modified>
</cp:coreProperties>
</file>